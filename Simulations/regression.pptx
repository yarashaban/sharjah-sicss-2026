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9" r:id="rId2"/>
    <p:sldId id="280" r:id="rId3"/>
    <p:sldId id="281" r:id="rId4"/>
    <p:sldId id="282" r:id="rId5"/>
    <p:sldId id="284" r:id="rId6"/>
    <p:sldId id="283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4" r:id="rId16"/>
    <p:sldId id="295" r:id="rId17"/>
    <p:sldId id="296" r:id="rId18"/>
    <p:sldId id="297" r:id="rId19"/>
    <p:sldId id="300" r:id="rId20"/>
    <p:sldId id="299" r:id="rId21"/>
    <p:sldId id="301" r:id="rId22"/>
    <p:sldId id="302" r:id="rId23"/>
    <p:sldId id="31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0033"/>
    <a:srgbClr val="22373A"/>
    <a:srgbClr val="162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6106" autoAdjust="0"/>
  </p:normalViewPr>
  <p:slideViewPr>
    <p:cSldViewPr snapToGrid="0">
      <p:cViewPr varScale="1">
        <p:scale>
          <a:sx n="103" d="100"/>
          <a:sy n="103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29052-B840-4985-AB3B-9F88C78966C7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10068-F0A4-485B-B8F1-B8A5B10D35B4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818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034A4-6E27-60CB-D087-981AF7F0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E6B73EB-D0D6-EF3E-53F0-9190A3E09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20186E-B2F8-C43F-1493-8C006482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4F92EA-9FFB-C775-536C-8F7C0A21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B79FCE-253B-D7DF-B6EF-12238D6A1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473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6D029F-FEB5-01E9-F880-174B019C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250777-B39E-728F-90C9-9648C79E2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8CE24F-2BE7-4B20-41A3-BA7A43180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137DD7-D7FA-BD49-4736-5A2F82B50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2CE82-5F86-1E9E-EA59-62D4FF80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398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5423F5-6170-8C9F-AEF5-B9AB55D45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88AF33-EA44-4849-C9DF-0508C39D9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5EA7A8-5EE7-D17F-6507-759BC85C1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23CB8E-F1DE-46C8-6B0A-F71C25F6B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FE768C-E852-8A0B-A552-22353613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32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4B9CB4-A7EE-EEFD-9351-061E5C95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866868-AD99-8C14-374B-E95C71C45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88B2024-13A9-2E08-882C-B50E7FE1C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6915F7-19B8-53D5-9CB3-532B86BE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F2089C1-107A-D186-9A5E-13F85A55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5A9D2E-5EC3-255F-836C-ADEB94C49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313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1F7173-1F1E-22B4-CEF5-F7939983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05C9C7-14A7-DF74-CCB0-BD3D5956E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61DC13-DFDB-F0E7-DCB5-65DF4D0BF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53CC521-8312-9BA7-B851-66A5F8C32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E840D49-080C-10AA-430B-BCDEB42E8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0CC3BCF-B2E5-57A3-2A52-FA0F70920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2E78521-4050-7E8D-FD24-4DE98563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D29E036-4BED-A254-93C8-11D61296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35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ECB29D-D13F-B345-693F-36BE50963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D324B4B-1D2A-4E7A-4806-38832CF5E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208661-8265-C0D9-F0E8-64FEE192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24DE1EC-99B4-6B42-CD97-B4BE8371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71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5DC32A6-C52B-CABD-E74E-0E3118FD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50F96FD-3487-F8BD-BE55-D41DDAF10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F5BAD5-8AF6-BF25-41A1-506379DA0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58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51FD0B-0BD5-CCB8-7D7F-1985AFBED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2EA042-E768-39B1-57DC-846851068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93827D3-4A05-BCCB-D327-BF634EE1E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B2E85A-36E6-035C-FE61-15DDC3AA5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06DB200-C3B0-9717-01B5-3241DDA08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5EFDF9D-0510-B97E-F91F-B75C103F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58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2B626A-C136-C14B-229E-2F70EE43C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6349224-74C1-1578-B11E-939F1FDDE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57C819-2DA9-F0F7-D36F-22B49FF86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6F5AEE-0A3A-51F8-C298-D47E10515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8BACA5-EB9A-7320-F1E6-83896B26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D5DC04-80A7-4A06-639D-EDA97D4B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166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68887A-C3A8-BB91-7DC8-8D3171C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92E8181-5E81-DCFB-D9E7-56A9D1A3E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EA16AA-A523-B128-6D32-16572F05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A900E5-AC10-30CE-E0C8-2ED7D0778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9C0526-6F90-501E-A450-05BD93DA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42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F2851F5-F20E-B662-8F8B-0880FDD90D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7D914C-647D-6C17-572D-1800BAB85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1482B6-2E94-9B03-8449-7ABB14074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238A71-A4F8-7091-BAF6-321F7C918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3D0E68-27BF-BB36-1446-BE0D358D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24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C2F9FBC-E9B1-639B-5E4E-29CDC40D6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5308F2-D6BB-0E95-1F0B-76888FAD9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AB86C8-3A12-1834-6958-824585DF8B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7C8EAB-624E-AE72-D766-766EB8D7C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119BD9-C605-10F2-A63B-1A68415EE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034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0F449-68B3-0757-4715-A92A9DB38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4CD7176-8CBB-6FF2-FCA6-4410CDC69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B5B01DBA-DE3F-C970-D822-978CFA704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Data on the number of hours students  of a certain school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spend studying and their grades:</a:t>
            </a:r>
          </a:p>
          <a:p>
            <a:pPr marL="0" indent="0"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23F1206A-BCA5-87A7-4DF9-822C1A2A9562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5FA610D-656A-7C37-F1E1-2C1D28C7423C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882EF0A7-B22B-DC67-1962-6A39B04A5EA5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E73C82F9-FEF6-9958-603E-E1EFC6C3470E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BC78B15-F7D9-1667-C33F-B57A9B8E5374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E1F60EA-4BA7-E273-6445-7A0AFB93F139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AC2B4E9-0BDD-D406-B7D2-295B4BE1CCF0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44F231E-14E9-D9EA-2B29-7940437F9C25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70D8C8D6-38F1-AEDB-0CC5-DFBF6F4007D6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5BF8295-8ADD-3831-C269-BDE878017DE9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3B77B5CC-FA10-8DAF-6338-B74A8747102F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39A9C4C8-A2C6-737F-692D-0232931D9811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E02D596C-E511-3A22-9A03-993966677794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258D98F8-0D79-F2D6-DA7E-85DCE5792D25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B0877B86-8576-0E47-355B-8A48C3CDA370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BEB1EBDF-75D3-93CE-6D6D-44446CEBE775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569CB6C4-C696-345D-1ACB-FA8F7AF71289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42426355-1696-95ED-3407-9595CC975B8D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CF3776B9-580B-7FA0-0E62-F1685269068A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8AA55079-121E-1028-48E1-E9154398A176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nhaltsplatzhalter 2">
            <a:extLst>
              <a:ext uri="{FF2B5EF4-FFF2-40B4-BE49-F238E27FC236}">
                <a16:creationId xmlns:a16="http://schemas.microsoft.com/office/drawing/2014/main" id="{FA83584F-D551-C50F-767C-54D315A5A30C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6" name="Inhaltsplatzhalter 2">
            <a:extLst>
              <a:ext uri="{FF2B5EF4-FFF2-40B4-BE49-F238E27FC236}">
                <a16:creationId xmlns:a16="http://schemas.microsoft.com/office/drawing/2014/main" id="{4B9F1B27-5228-E746-ECA8-B997535B8126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7" name="Inhaltsplatzhalter 2">
            <a:extLst>
              <a:ext uri="{FF2B5EF4-FFF2-40B4-BE49-F238E27FC236}">
                <a16:creationId xmlns:a16="http://schemas.microsoft.com/office/drawing/2014/main" id="{76EEE7AA-375B-9AEB-1D2A-3CCF3E1C1191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C0CE70F2-6DB9-DEE5-851D-DBCA062FEBDB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DC120EDE-A1B2-0709-7165-79AD7324BF39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F400EFD0-5211-7535-109D-32DBE5A6EC37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271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1F766-9A83-F76D-AF65-6A5020B38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0B94C96-F0A9-06B3-6DAE-1CD6662AA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7B02F897-93B3-507A-E8F7-CE7B89A93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There is clearly a positive correlation here: 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 average, the more hours a student spends studying the better their grades are</a:t>
            </a:r>
          </a:p>
          <a:p>
            <a:pPr marL="0" indent="0"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5D7D8020-2656-ED71-4A6D-2C1A387C2FC9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85DDDF7C-0491-D68F-30CE-821480279D59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22B2A5FA-9FF8-6294-54D0-CE82336F20DB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20BCCD9-DCEE-94AC-72BF-D2B95D6B5F04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A640B3F-698B-23BA-4C70-82DCF6A4346E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6A321FE-7FA7-91A7-6A9B-8F3912DE028F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E8711CE-33ED-4FC0-409F-3B4B0B2643EE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7E51C774-ADFB-F8C1-CFD4-ED2C920AC4B1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85F7D45B-8D58-21E5-D6AE-98B132D89B3D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D92EC5F6-1A10-659E-15C0-75D673F38405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A95DBE0-2983-65FA-A8EC-7583CCEEDEE5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E87DA0EB-D1C8-DD78-5012-1021199320C0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A4139A79-5D58-9F3B-B42B-00A9785EA06C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9FE2C429-04A3-8447-94C0-7F696E30C0EE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29B369CA-1605-C94B-8C1E-8AA9B178811A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F07BB6B0-9F08-3ABE-AE7A-FA676E0736B0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DC20199D-12C9-5595-9E6D-97080B50516C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C81D790C-7ECE-EBB2-913B-F2AAE3856F86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6EDAC100-FB28-932A-67DC-5988A2C5C4A4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F27363C9-A1BF-3364-24A9-50170B984770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FEA5DD11-1AFC-0FE8-EFF8-EEB6BC7291FF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277B2E26-4E13-68C0-468E-3A8C6427319F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7BBCF83A-5E75-B1CA-79D8-20503F0FEBB7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CD66206B-7805-999D-06EF-ECF0F24F10A6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BB1AB63B-2490-20BD-2950-6B0210BA0687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1C22DBE9-9EBB-087F-D004-29A96CA296D2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975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69526-FBFC-93A0-CAA3-B78458B0A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8579EE1E-4431-FF90-461B-CEBF85FD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2C3C3BF9-64E9-1023-8E7C-C6DDFDAB3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 there a concise way to describe this positive relationship and how strong it is?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D8FC4D5E-15D4-083E-0C92-0B41E9EAFCAA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8EA63AA5-3DE5-DC33-6275-6956C5D24936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AA7326B5-D212-316F-6931-9242A2C96704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211DB4F-33A5-601F-80C9-0D14EA121E60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2C6E0AF-C96C-AE87-4948-659D51113EA5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41F54F7-2321-0E1D-3C44-444F9E332210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2C4C4574-5AE3-7051-6478-D84F0236FAD1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88D3677-82E8-4649-9996-174714328052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89A452C1-AF65-1F25-54DE-22B68A135462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529840D-B32C-A692-C47E-C33BAA7B0092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7771A2C3-8224-47A5-EE8A-D8EE86F9211D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F307DAA-5CE2-62B0-A98F-B6266F434F9A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22DCC5B2-CCA2-C6BF-69CC-85376FCCA8D3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4A6845AA-C369-AC16-D080-B1118B4F39CF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2BF2EE9-8CE4-B78A-C571-96C37BF700B0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703DA303-5FB0-65A7-06A9-2C6EA5114142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9CFFBB42-E515-867E-7E64-89E6B272D1FE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885F6639-6E9A-F47A-1612-CE9B8969E136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69E66FB0-CCF8-EE43-8E11-291291167E51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BC1D5898-9FD5-2D51-C452-82455B765011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444A8B23-C772-5B80-B9C0-9C59C0056C42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30562BB6-13DA-0C46-D519-4B716B69FF89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1E7EFA06-B9EC-A9BB-D83E-748A638505A1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BB3911EB-BB26-C598-92C0-9F2972D605BF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E744F2FA-A163-4375-70E6-5A6679802CC8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579C23B1-05C2-5826-37D9-20167615257C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111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A5598-4742-D669-DDB9-FA0CAF48E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AD6DF310-FFF5-A40F-8002-92ACC47C8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39A09285-9130-98F1-88DB-729E3D2FF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 all lines are equally </a:t>
            </a:r>
            <a:r>
              <a:rPr lang="en-US" sz="2400" b="1" u="sng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good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A2FC97F0-1152-6741-ED8C-5771888D13D8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886BF84F-7C0A-29DC-ACCB-723D1FFA2E50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ABA2F05D-6A77-B8AF-20E1-F56CCCE83028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6621641-711D-35CC-ED81-347F47A5305A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D74D8C8-5B95-53B9-5FEE-19013119C403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0423E08-CCB5-EF8B-8ED6-6A5C9FE5D70A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988FB9B-64AA-2606-CD2D-1C1737CECB9D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E5D7E0D-03A8-510A-9EB7-C6FA29940D2D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A4DC624-2210-5A5C-F921-AFFB61677165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D280191-A754-C73E-7F2D-A9C5EBE29F8E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E975F86A-24E7-4281-9A03-9FB0C6183620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9A3F7BDF-51CF-0043-B66F-6CA847B93549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8320A2F0-6E93-E3AE-16EA-4131A80EF23D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580EC42B-2F38-F49C-64FE-2124C9B88FAE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E406BEE0-2B5D-98B6-1772-B0274301E8E6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578D85AB-F5B6-2D5A-5E54-9DF27AFF8BDC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F35FCBA0-4D49-73E0-C502-4CFB215645B3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DD8E9FF9-1967-A191-EE9F-213FC0C3AEC0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3F1C7CC7-BFCD-3E8B-984D-0895FD8766B3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34FB3B2C-8621-B5D7-DBFE-38DE785F0A6E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7FC97F82-8E70-E1C4-C9DE-CFA44D1CD0AD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EAFA68D3-67FB-1C5C-D69C-D1F53CDF8495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7853F52F-1A61-C37B-6D8A-3AC5D3B66F12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2B81AA04-5821-DF06-1BA0-512AFDD25BAE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3F2E875D-5039-3FEB-EB80-C3050F7907DF}"/>
              </a:ext>
            </a:extLst>
          </p:cNvPr>
          <p:cNvCxnSpPr>
            <a:cxnSpLocks/>
          </p:cNvCxnSpPr>
          <p:nvPr/>
        </p:nvCxnSpPr>
        <p:spPr>
          <a:xfrm flipV="1">
            <a:off x="2690479" y="2414125"/>
            <a:ext cx="3091542" cy="2021540"/>
          </a:xfrm>
          <a:prstGeom prst="line">
            <a:avLst/>
          </a:prstGeom>
          <a:ln w="38100">
            <a:solidFill>
              <a:srgbClr val="660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D0A440CD-E7BB-6F6F-857E-1F45B31F599A}"/>
              </a:ext>
            </a:extLst>
          </p:cNvPr>
          <p:cNvCxnSpPr>
            <a:cxnSpLocks/>
          </p:cNvCxnSpPr>
          <p:nvPr/>
        </p:nvCxnSpPr>
        <p:spPr>
          <a:xfrm flipV="1">
            <a:off x="2942507" y="3307100"/>
            <a:ext cx="3650179" cy="1711596"/>
          </a:xfrm>
          <a:prstGeom prst="line">
            <a:avLst/>
          </a:prstGeom>
          <a:ln w="38100">
            <a:solidFill>
              <a:srgbClr val="660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80DF04F-6AEE-8716-2163-3225D6DF34CF}"/>
              </a:ext>
            </a:extLst>
          </p:cNvPr>
          <p:cNvCxnSpPr>
            <a:cxnSpLocks/>
          </p:cNvCxnSpPr>
          <p:nvPr/>
        </p:nvCxnSpPr>
        <p:spPr>
          <a:xfrm flipV="1">
            <a:off x="2655248" y="2459123"/>
            <a:ext cx="3635122" cy="258609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lipse 21">
            <a:extLst>
              <a:ext uri="{FF2B5EF4-FFF2-40B4-BE49-F238E27FC236}">
                <a16:creationId xmlns:a16="http://schemas.microsoft.com/office/drawing/2014/main" id="{9868E03A-7BE2-6011-7924-A806081CED5D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8393D1E-3276-28E7-43AC-A7239C1853A7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532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7F683-E907-30E7-E688-5190A9C9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B264E83C-177D-ACA9-CC80-A3EF75C4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F2EFA9B2-793D-FBCE-0942-690C745ED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 all lines are equally </a:t>
            </a:r>
            <a:r>
              <a:rPr lang="en-US" sz="2400" b="1" u="sng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good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0E0C76E9-7638-4CB9-18AF-676440A55E4F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9368DC08-88A0-3BB4-9855-0A6604AA92C8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625DB5F8-4BBB-D3D6-12C2-6C31B5F6FE59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406DC00-4D55-FF76-4E71-6334C9082033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5F98D76-813A-76A0-8933-EE4363ACD8C9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CBF9A60-CAAC-4707-0C1C-E5B64EDAD5DC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72426C0-B189-C83D-5FB5-A9906C79EFC9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F44D74EE-4C48-89B5-3E31-5DB0884F2DB6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5452007E-1467-4EA2-5CBE-F4F067782F52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75951E0-0D48-2F1E-1551-B7FACBE61109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D5DB8872-4208-E54D-ED9F-67A61E41886F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D7C7A8A8-7A9F-2E1F-2A94-329BDFED1A25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33D83542-1FAD-2AFB-D644-3D5C47C45231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3E043EBB-235D-38C9-2147-3A919F1DA6C1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C2C4B7E0-C839-E272-5435-6C96FE2E5A69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D58182D-FC76-123F-02B4-3D0EC4ABD0AC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51A08034-8348-EBEA-E456-8C3454D53F02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4E897950-8758-C17A-D2B6-778499D64EF8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D546A7A9-7E64-E5CC-E5A4-990B9E7113F4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5B94BBA7-E11A-C273-6E8A-AEB66CEC46AF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B6A8C1B2-A13D-327D-870E-EFEEFDE13E81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771DAE9B-F993-C51F-59E4-DE69A92816F6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5E541EC4-A5C3-3280-4E51-6E20EA6B1021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067F862B-6353-E2E8-73EC-CDBEF1F1E0A8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B7580846-E19A-D3E2-639D-CBE8333C1296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A62760E5-ED95-EB47-5C96-AED901743153}"/>
              </a:ext>
            </a:extLst>
          </p:cNvPr>
          <p:cNvCxnSpPr>
            <a:cxnSpLocks/>
          </p:cNvCxnSpPr>
          <p:nvPr/>
        </p:nvCxnSpPr>
        <p:spPr>
          <a:xfrm flipV="1">
            <a:off x="2655248" y="2459123"/>
            <a:ext cx="3635122" cy="258609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lipse 21">
            <a:extLst>
              <a:ext uri="{FF2B5EF4-FFF2-40B4-BE49-F238E27FC236}">
                <a16:creationId xmlns:a16="http://schemas.microsoft.com/office/drawing/2014/main" id="{CC16F4B6-F462-A2AE-1E03-D52450A7DBD0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04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9644D-B22F-F03C-ECD0-7DA168865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9F5E0877-B2F4-FA19-0E36-B456C41B0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8350C6E6-3F07-4844-55A8-3519FD4D9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best line minimizes the sum of the </a:t>
            </a:r>
            <a:r>
              <a:rPr lang="en-US" sz="2400" noProof="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errors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2400" noProof="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Sum of Errors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sum( |observed grade – </a:t>
            </a:r>
            <a:r>
              <a:rPr lang="en-US" sz="2400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predicted grade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| )</a:t>
            </a:r>
          </a:p>
          <a:p>
            <a:pPr marL="0" indent="0">
              <a:buNone/>
            </a:pP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672F6ACD-DFBB-5F51-1168-F621B761584A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69328B43-3A49-5CB2-D1DE-94F54E8B5274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6EED96EF-D112-AE86-E6E7-C55228D54B0B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94166766-17FA-4BB8-3A63-CFA8250A4E34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D82ECD4-23EF-F400-DC29-8A22EDA08E39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B641E86-ED83-C3A4-7E78-46F277F71858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1CE6DCE-7D27-D201-613F-CAC1667657C5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978577F-6180-E1DC-C9D3-C4D6F3D1F5CA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67DD5A2-8860-6320-07D0-7952CA0426D8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C688285-8A37-6108-F3A3-6533F827615D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357467E1-5938-532D-268B-FC75A7B3D2BD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6AEA8D28-825C-D4B2-D9A0-E95F7A9E6A5A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501F4DAB-8122-270D-DD8B-62F476AAA46B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534B8245-3633-E03D-81B3-41F7B7934EE8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DF53D346-1F1D-8624-815F-373B7A0EA271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2DE80722-E21F-23A1-85D0-C0D134486CE1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80E2C04B-79A5-F658-2BBB-7BE6014556A0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933D79F6-BDA7-5411-D307-FD88C54A015D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74850666-38E7-62E4-4E26-B997C446737E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A2451E15-E990-5DCE-8C55-E872B42F1803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9D7395A1-055E-37C7-9351-DCA6FADF03AB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4E46C95D-9A17-E4CE-0731-15626B5AC15E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4E0A262B-C135-285B-1772-5E045D64F342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222505DA-1F35-54D3-4639-7257BC44ECAF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11E6F351-30D9-0A7D-2639-ADD4C53951DA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67C515F6-6484-37A0-6316-7B718EBD2C26}"/>
              </a:ext>
            </a:extLst>
          </p:cNvPr>
          <p:cNvCxnSpPr>
            <a:cxnSpLocks/>
          </p:cNvCxnSpPr>
          <p:nvPr/>
        </p:nvCxnSpPr>
        <p:spPr>
          <a:xfrm flipV="1">
            <a:off x="2655248" y="2459123"/>
            <a:ext cx="3635122" cy="258609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E096C49D-C182-5E64-BC3D-DCF5CFE3F5F6}"/>
              </a:ext>
            </a:extLst>
          </p:cNvPr>
          <p:cNvCxnSpPr>
            <a:cxnSpLocks/>
          </p:cNvCxnSpPr>
          <p:nvPr/>
        </p:nvCxnSpPr>
        <p:spPr>
          <a:xfrm flipV="1">
            <a:off x="4298661" y="3869983"/>
            <a:ext cx="0" cy="250906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1FA233A9-50CE-1840-4137-DD0D80459D80}"/>
              </a:ext>
            </a:extLst>
          </p:cNvPr>
          <p:cNvCxnSpPr>
            <a:cxnSpLocks/>
          </p:cNvCxnSpPr>
          <p:nvPr/>
        </p:nvCxnSpPr>
        <p:spPr>
          <a:xfrm flipV="1">
            <a:off x="4076629" y="3436426"/>
            <a:ext cx="0" cy="599152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A1A5D7A6-625A-29C4-24BB-7791B5B4A93F}"/>
              </a:ext>
            </a:extLst>
          </p:cNvPr>
          <p:cNvCxnSpPr>
            <a:cxnSpLocks/>
          </p:cNvCxnSpPr>
          <p:nvPr/>
        </p:nvCxnSpPr>
        <p:spPr>
          <a:xfrm flipV="1">
            <a:off x="3205252" y="4190334"/>
            <a:ext cx="0" cy="469130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31393A4C-1E7A-1699-5567-54F6391B1484}"/>
              </a:ext>
            </a:extLst>
          </p:cNvPr>
          <p:cNvCxnSpPr>
            <a:cxnSpLocks/>
          </p:cNvCxnSpPr>
          <p:nvPr/>
        </p:nvCxnSpPr>
        <p:spPr>
          <a:xfrm flipH="1" flipV="1">
            <a:off x="3975203" y="4099238"/>
            <a:ext cx="18104" cy="690248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17E4DDAA-2853-DFB8-56EC-590DCBCC7012}"/>
              </a:ext>
            </a:extLst>
          </p:cNvPr>
          <p:cNvCxnSpPr>
            <a:cxnSpLocks/>
          </p:cNvCxnSpPr>
          <p:nvPr/>
        </p:nvCxnSpPr>
        <p:spPr>
          <a:xfrm flipV="1">
            <a:off x="5079711" y="3121877"/>
            <a:ext cx="6886" cy="193817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48177963-CA9C-4B34-08E9-31A392DBCB4F}"/>
              </a:ext>
            </a:extLst>
          </p:cNvPr>
          <p:cNvCxnSpPr>
            <a:cxnSpLocks/>
          </p:cNvCxnSpPr>
          <p:nvPr/>
        </p:nvCxnSpPr>
        <p:spPr>
          <a:xfrm flipV="1">
            <a:off x="4997483" y="3352752"/>
            <a:ext cx="0" cy="734333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lipse 50">
            <a:extLst>
              <a:ext uri="{FF2B5EF4-FFF2-40B4-BE49-F238E27FC236}">
                <a16:creationId xmlns:a16="http://schemas.microsoft.com/office/drawing/2014/main" id="{AD8A0B71-B065-88AA-A563-570716BB6A94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4AB4C9E5-B4A1-DDC6-7FEA-B776E724EEEE}"/>
              </a:ext>
            </a:extLst>
          </p:cNvPr>
          <p:cNvCxnSpPr>
            <a:cxnSpLocks/>
          </p:cNvCxnSpPr>
          <p:nvPr/>
        </p:nvCxnSpPr>
        <p:spPr>
          <a:xfrm flipV="1">
            <a:off x="5754286" y="2838616"/>
            <a:ext cx="0" cy="364275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422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CB1C2-B39C-0E61-FBCD-091B9EB14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2EB13E5F-D108-CEB5-AE22-4A44556ED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05C6A6F7-B0DF-40BF-36FA-0217D51AE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best line minimizes the sum of the </a:t>
            </a:r>
            <a:r>
              <a:rPr lang="en-US" sz="2400" noProof="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errors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2400" noProof="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Sum of Errors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sum( |observed grade – </a:t>
            </a:r>
            <a:r>
              <a:rPr lang="en-US" sz="2400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predicted grade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| )</a:t>
            </a:r>
          </a:p>
          <a:p>
            <a:pPr marL="0" indent="0">
              <a:buNone/>
            </a:pP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0F89D7DF-DE0A-2A20-C5AA-E2B6F49AD6AA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FF6B64EB-0AEA-B7FD-61CD-48A83E641D92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40B51D3E-9C1D-5158-6F64-8D6DF9DC3D4F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3DF01B41-BF94-D02A-74B4-01B685FD4B22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1CA46BE-F840-7C46-351A-68F7EE551D6D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9DC42B6-A707-FD79-DFA9-F41BBB82E922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10DFD77-D8A1-C3C3-6B75-74A725F072E1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4A16B2A-A8B1-D0C4-6ACB-C37497C99048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3F97CE94-B4B3-DD40-0773-E412272086D4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9109E02-2981-6E4D-40B7-38A437BA9170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8EFE3FD9-B427-AEEB-C9C1-2C8C079438CD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48F39843-B09E-937B-4C17-DE19ED4E3C79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3F7330D-68C0-F03A-98BF-B0E2F01E3FB3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6AAFC3F3-D650-411E-96BD-D4C082D1199D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48DE8D29-A930-69BF-50E9-19E6B4D7DEA1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DFA80CBE-2226-C17B-94D3-EF4375DA28D0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C2FAA0E6-C16D-08FA-1E13-4A4932036D87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CB9833CA-D313-7D84-101E-7680A8118EFC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F07CFAF-4B44-8A4A-F51C-DDD10F73F7F3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C15C2BA3-D027-188F-5A47-C19E9502C841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B127012E-6887-E9EC-841B-7BF74C540DB7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456670AF-9E73-D9B8-A98E-F8272286BDCD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607646DF-448E-1D16-B635-F4442822605A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61F7BE40-2520-96EF-5B8E-D6C0381B86B9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D2EA5C65-F2E0-2736-E1DC-3344B4BEE1B6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00C7EC41-7D94-168F-E803-7E6309F77C55}"/>
              </a:ext>
            </a:extLst>
          </p:cNvPr>
          <p:cNvCxnSpPr>
            <a:cxnSpLocks/>
          </p:cNvCxnSpPr>
          <p:nvPr/>
        </p:nvCxnSpPr>
        <p:spPr>
          <a:xfrm flipV="1">
            <a:off x="2828604" y="2682004"/>
            <a:ext cx="3635122" cy="258609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452BDC0-B62F-B9CA-0034-3E379F1FA090}"/>
              </a:ext>
            </a:extLst>
          </p:cNvPr>
          <p:cNvCxnSpPr>
            <a:cxnSpLocks/>
          </p:cNvCxnSpPr>
          <p:nvPr/>
        </p:nvCxnSpPr>
        <p:spPr>
          <a:xfrm flipV="1">
            <a:off x="4076629" y="3436426"/>
            <a:ext cx="0" cy="941106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C44F5FCC-83E1-9506-C68C-935AF7052AAD}"/>
              </a:ext>
            </a:extLst>
          </p:cNvPr>
          <p:cNvCxnSpPr>
            <a:cxnSpLocks/>
          </p:cNvCxnSpPr>
          <p:nvPr/>
        </p:nvCxnSpPr>
        <p:spPr>
          <a:xfrm flipV="1">
            <a:off x="3205252" y="4190334"/>
            <a:ext cx="0" cy="787183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32610830-80BB-55FE-DB49-B9D671314345}"/>
              </a:ext>
            </a:extLst>
          </p:cNvPr>
          <p:cNvCxnSpPr>
            <a:cxnSpLocks/>
          </p:cNvCxnSpPr>
          <p:nvPr/>
        </p:nvCxnSpPr>
        <p:spPr>
          <a:xfrm flipV="1">
            <a:off x="3993307" y="4424899"/>
            <a:ext cx="9767" cy="364587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F840E4FA-E591-F654-B48A-E03A0867ADEF}"/>
              </a:ext>
            </a:extLst>
          </p:cNvPr>
          <p:cNvCxnSpPr>
            <a:cxnSpLocks/>
          </p:cNvCxnSpPr>
          <p:nvPr/>
        </p:nvCxnSpPr>
        <p:spPr>
          <a:xfrm flipV="1">
            <a:off x="5086597" y="3121877"/>
            <a:ext cx="0" cy="562293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E40169E1-3C85-5FB0-D021-E0DC21D8611B}"/>
              </a:ext>
            </a:extLst>
          </p:cNvPr>
          <p:cNvCxnSpPr>
            <a:cxnSpLocks/>
          </p:cNvCxnSpPr>
          <p:nvPr/>
        </p:nvCxnSpPr>
        <p:spPr>
          <a:xfrm flipV="1">
            <a:off x="4997483" y="3750992"/>
            <a:ext cx="0" cy="336093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lipse 50">
            <a:extLst>
              <a:ext uri="{FF2B5EF4-FFF2-40B4-BE49-F238E27FC236}">
                <a16:creationId xmlns:a16="http://schemas.microsoft.com/office/drawing/2014/main" id="{CFA45E99-ECD9-B620-199E-8035954B0F02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11050142-CADA-E2EC-E989-9D67343F4742}"/>
              </a:ext>
            </a:extLst>
          </p:cNvPr>
          <p:cNvCxnSpPr>
            <a:cxnSpLocks/>
            <a:endCxn id="24" idx="0"/>
          </p:cNvCxnSpPr>
          <p:nvPr/>
        </p:nvCxnSpPr>
        <p:spPr>
          <a:xfrm flipV="1">
            <a:off x="2898050" y="4789486"/>
            <a:ext cx="0" cy="393591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25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C9183-923D-5082-421F-84B411EB0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A990E59A-F501-6D08-FB87-4D7142F7F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C69AFF2C-6D7D-D3A1-8FC6-9BFFA5CA7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can keep trying manually, or we can let R do it for us.</a:t>
            </a:r>
          </a:p>
          <a:p>
            <a:pPr marL="0" indent="0">
              <a:buNone/>
            </a:pP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B4CDF220-5420-FA0E-1539-4AD57174BB15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C2D1D4B-B883-2A87-F0B9-3C0CD9DBFA04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D932A8A9-AC0B-D8AA-D224-BFAC5A442486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EE90A06-B568-352B-9D69-575F7FFA1C34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418E3B8-7013-95BF-60E6-9FC2CCF1D967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227EE61-E287-726B-2330-04BF14DC6B05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094885F-0BC3-5FF4-7BAD-17DE71294B64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E728082-0C7B-E00F-D045-7C5065499D7D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A7A7DE1-5647-EEF8-4B30-06D4509C818E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EEDC387A-4216-44EE-F3CC-81A18F56427D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97DEAFB3-EB0A-F3A8-1A49-8D388903B445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BCB6684F-BCB9-8CBB-1D1C-65778CCAAFCA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621E75EB-3A7E-016B-2E6F-6FC483F846A1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206BC562-F618-CA5C-E0A1-60B351752CA3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4B406EBC-A23C-459F-D61B-6F0B49E5CD26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5F6E0F2C-9EC5-97AF-4518-BA71700BB65C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C11C5EBC-2330-44FD-DFF0-3E37DB0D5E54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B5B0943-4E49-1FE5-1CEF-4EBF4CF94CE2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F2DF991-2917-10C2-3479-E2937B2FFD68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01E7C5A4-1700-8D9F-297D-475EB3CE5920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322EFEAE-3292-F4E9-1C5E-17E53AB2A2FE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41569758-FA36-E694-305F-89269057A3E4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0110C469-9055-0E7A-2FDB-1A4AB91033EC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C1284FBD-520D-5B98-0BAE-8AA9AAB04B53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6784721E-CF89-D79C-E904-1899A9F7BF22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5AA9DACA-861B-9221-FC5C-73DD96A65CF9}"/>
              </a:ext>
            </a:extLst>
          </p:cNvPr>
          <p:cNvCxnSpPr>
            <a:cxnSpLocks/>
          </p:cNvCxnSpPr>
          <p:nvPr/>
        </p:nvCxnSpPr>
        <p:spPr>
          <a:xfrm flipV="1">
            <a:off x="2624077" y="2750628"/>
            <a:ext cx="3848285" cy="2272781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0F7DC91-BEAF-36DE-A597-4B53DDB4C6BE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5004369" y="3623537"/>
            <a:ext cx="5896" cy="412041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806CEB74-A735-2451-3AAD-0FBBF738BD46}"/>
              </a:ext>
            </a:extLst>
          </p:cNvPr>
          <p:cNvCxnSpPr>
            <a:cxnSpLocks/>
          </p:cNvCxnSpPr>
          <p:nvPr/>
        </p:nvCxnSpPr>
        <p:spPr>
          <a:xfrm flipV="1">
            <a:off x="3205252" y="4190334"/>
            <a:ext cx="0" cy="453228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22DB94C3-7D6B-AE50-98AF-0FD01C8EFA81}"/>
              </a:ext>
            </a:extLst>
          </p:cNvPr>
          <p:cNvCxnSpPr>
            <a:cxnSpLocks/>
          </p:cNvCxnSpPr>
          <p:nvPr/>
        </p:nvCxnSpPr>
        <p:spPr>
          <a:xfrm flipV="1">
            <a:off x="5079711" y="3139231"/>
            <a:ext cx="0" cy="428957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3074366B-BAC7-33EB-3B0A-57CA592DCF9C}"/>
              </a:ext>
            </a:extLst>
          </p:cNvPr>
          <p:cNvCxnSpPr>
            <a:cxnSpLocks/>
          </p:cNvCxnSpPr>
          <p:nvPr/>
        </p:nvCxnSpPr>
        <p:spPr>
          <a:xfrm flipV="1">
            <a:off x="4292823" y="4044868"/>
            <a:ext cx="0" cy="106394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lipse 50">
            <a:extLst>
              <a:ext uri="{FF2B5EF4-FFF2-40B4-BE49-F238E27FC236}">
                <a16:creationId xmlns:a16="http://schemas.microsoft.com/office/drawing/2014/main" id="{25FF026F-EB96-5BA5-5B0A-2E5A291F9902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9D2C8E62-CA58-6286-320D-E4BBA6F79585}"/>
              </a:ext>
            </a:extLst>
          </p:cNvPr>
          <p:cNvCxnSpPr>
            <a:cxnSpLocks/>
          </p:cNvCxnSpPr>
          <p:nvPr/>
        </p:nvCxnSpPr>
        <p:spPr>
          <a:xfrm flipV="1">
            <a:off x="3991730" y="4252151"/>
            <a:ext cx="0" cy="528569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45215DCE-5A1D-DF11-D847-26B02195CC0D}"/>
              </a:ext>
            </a:extLst>
          </p:cNvPr>
          <p:cNvCxnSpPr>
            <a:cxnSpLocks/>
          </p:cNvCxnSpPr>
          <p:nvPr/>
        </p:nvCxnSpPr>
        <p:spPr>
          <a:xfrm flipV="1">
            <a:off x="4061176" y="3471875"/>
            <a:ext cx="17651" cy="715768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033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6EC94-1802-3758-589F-E6764574F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24DEC163-862B-D81F-CFC8-4ADF374A4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7E1F440B-BAB2-3393-5F0D-BEE5E540F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equation of any straight line is: Y = </a:t>
            </a:r>
            <a:r>
              <a:rPr lang="en-US" sz="2400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+ </a:t>
            </a:r>
            <a:r>
              <a:rPr lang="en-US" sz="2400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X</a:t>
            </a:r>
          </a:p>
          <a:p>
            <a:pPr marL="0" indent="0">
              <a:buNone/>
            </a:pPr>
            <a:r>
              <a:rPr lang="en-US" sz="24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The intercept (where the line cuts the y-axis)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The slope or the coefficient (how steep or flat the line is, it‘s angle)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EC5A1246-653C-C257-F78D-DD39EF728E49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99DFC9FC-ECD7-0CCC-E7EA-32C51089A272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28963D88-A0A1-4AA1-FF6E-6347B4BE7A31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E396A25-3B33-FF30-F28C-2671B7B6F37C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8748743-C711-39C3-5296-24AD921E4204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EFD9698-B4F1-732C-C517-89815ADC57A7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E1ACD50-6B26-84A1-29FB-23D97FC3BF67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9370084-0CE5-2216-A2BC-FACF7B4DEF39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FA00FC58-2857-BF7F-79B9-DEE5F673695C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36B891E3-3A2F-9B0C-8953-A33679879C24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BC7811A-ACC8-CA7E-3B95-F65C9EC49301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C8CF20C0-0944-B8D1-8385-E154552B4494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F386BE7D-C4A3-C2FC-4425-E8D43C5FFB91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743295F1-D932-1616-B908-9C069170BD1B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93932F56-DD27-894C-AFA4-E4909D3EF517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85531633-11FA-3CB9-7E81-AC75F3B5DFD6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D8994F19-EB0C-A7AB-F2DB-D6604504AF47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5E5B304C-0043-193B-1460-EFC5F122E5B4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91B40A27-7C08-9025-2AB1-9D0549345F39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AEDDADF0-A05D-6A9B-08D7-326FEE6AE4F2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F999D40-13C7-E21A-3C89-485E417C7B72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4C40D8BC-3975-0BA4-AD2B-410AC1C8C2EA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D4DF12EF-A8E4-9FE7-B515-64AC326EBAA0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3C4D2046-BA53-290A-2448-E8D2C1DC26A1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B690A157-1CAA-3311-9207-4624EBBA2777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3A692FBA-67F8-E333-E745-A733FCC29670}"/>
              </a:ext>
            </a:extLst>
          </p:cNvPr>
          <p:cNvCxnSpPr>
            <a:cxnSpLocks/>
          </p:cNvCxnSpPr>
          <p:nvPr/>
        </p:nvCxnSpPr>
        <p:spPr>
          <a:xfrm flipV="1">
            <a:off x="2624077" y="2750628"/>
            <a:ext cx="3848285" cy="2272781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lipse 50">
            <a:extLst>
              <a:ext uri="{FF2B5EF4-FFF2-40B4-BE49-F238E27FC236}">
                <a16:creationId xmlns:a16="http://schemas.microsoft.com/office/drawing/2014/main" id="{F1B8D956-1572-BE5D-71DB-9CF255D06A9F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EE2BEFA0-D718-F6F3-30A0-1A8612D5AA97}"/>
              </a:ext>
            </a:extLst>
          </p:cNvPr>
          <p:cNvCxnSpPr>
            <a:cxnSpLocks/>
          </p:cNvCxnSpPr>
          <p:nvPr/>
        </p:nvCxnSpPr>
        <p:spPr>
          <a:xfrm flipV="1">
            <a:off x="2052352" y="5027637"/>
            <a:ext cx="571725" cy="325628"/>
          </a:xfrm>
          <a:prstGeom prst="line">
            <a:avLst/>
          </a:prstGeom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13029BA6-D060-9E26-421B-2E87AEBC8DB8}"/>
              </a:ext>
            </a:extLst>
          </p:cNvPr>
          <p:cNvSpPr txBox="1">
            <a:spLocks/>
          </p:cNvSpPr>
          <p:nvPr/>
        </p:nvSpPr>
        <p:spPr>
          <a:xfrm>
            <a:off x="1559585" y="551254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2A49251B-872D-89CF-C28E-3F1A1E24E7CD}"/>
              </a:ext>
            </a:extLst>
          </p:cNvPr>
          <p:cNvSpPr txBox="1">
            <a:spLocks/>
          </p:cNvSpPr>
          <p:nvPr/>
        </p:nvSpPr>
        <p:spPr>
          <a:xfrm>
            <a:off x="5117909" y="342251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7A8F7C1-54A4-2707-BE95-E2912DAB9D85}"/>
              </a:ext>
            </a:extLst>
          </p:cNvPr>
          <p:cNvCxnSpPr>
            <a:cxnSpLocks/>
          </p:cNvCxnSpPr>
          <p:nvPr/>
        </p:nvCxnSpPr>
        <p:spPr>
          <a:xfrm flipV="1">
            <a:off x="1973881" y="5389094"/>
            <a:ext cx="0" cy="507128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3C95B08E-44DD-4AB5-4A6D-75E97954DEBF}"/>
              </a:ext>
            </a:extLst>
          </p:cNvPr>
          <p:cNvCxnSpPr>
            <a:cxnSpLocks/>
          </p:cNvCxnSpPr>
          <p:nvPr/>
        </p:nvCxnSpPr>
        <p:spPr>
          <a:xfrm>
            <a:off x="5004369" y="3645133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Bogen 47">
            <a:extLst>
              <a:ext uri="{FF2B5EF4-FFF2-40B4-BE49-F238E27FC236}">
                <a16:creationId xmlns:a16="http://schemas.microsoft.com/office/drawing/2014/main" id="{C987A914-39D0-27A8-0DE8-A9046C89866B}"/>
              </a:ext>
            </a:extLst>
          </p:cNvPr>
          <p:cNvSpPr/>
          <p:nvPr/>
        </p:nvSpPr>
        <p:spPr>
          <a:xfrm>
            <a:off x="5081977" y="3393874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7976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9416C-E34F-2EB8-6320-915F316CB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FD31461-5393-E078-5A93-FA0FBA54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B9BF5C06-9BFB-B2EA-9777-DC9A212FC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equation of our line here: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 = </a:t>
            </a:r>
            <a:r>
              <a:rPr lang="en-US" sz="2400" b="1" noProof="0" dirty="0">
                <a:solidFill>
                  <a:schemeClr val="accent5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+ </a:t>
            </a:r>
            <a:r>
              <a:rPr lang="en-US" sz="24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* Number of hours</a:t>
            </a: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12ED89E5-82F8-B88E-3E88-CC8C247EB4C5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75526EC3-FF37-89E4-DB32-11E314CC8227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7F718A8-8E6A-041F-68B0-3D0D416D83C2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3C709309-D271-3A75-7E6E-1CE33CE113BB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6CE7543-D87C-7B5E-10E5-25DECFC7EF4B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C40346D-4ACC-4966-C639-0A34EEDD8B68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E526619-3C2C-A18A-9FC0-0B743B11E5F8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6F0F695-6665-9B82-EEE4-1096D145AED9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2E8FBCB8-6BB8-FEF4-A874-565BADD2416C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76E56566-4C44-B939-C74C-F3E74C040926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C12020B1-DC50-D1A8-15CF-2A9846641641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38D63914-0A82-338B-257A-DF917C66DE29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28A868C7-7D75-4E49-5DF6-60CABEEE60CA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41624A0C-648A-E21D-28FE-96E10F93C3C1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948488C8-E37E-0249-8912-74C5F71C29A0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AC1FD4E6-9945-5424-A81C-63A12CD631BD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337CEDBD-2D23-EEA5-4DE5-C6E7EEB7043B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25AF40F6-C070-32B2-C380-7990406AEC38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B61D1EA3-EFD3-BFE9-4413-52189618A6A1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54E47A5F-78E5-176E-C4B4-99FAD33D4EC3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4D1C6B69-D023-F870-CC70-45DC83F2DEAA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774440BE-371B-3286-C7F8-4C85C9852075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64CCA7F2-187D-221B-E031-D99ADBE3B0E9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B5A16D13-10A5-3B1D-0713-05C2AAE4A330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2CF73F15-29EB-75E6-D8AA-5674B7EA5275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7977D650-8175-5B6A-B376-8B7E5E69152B}"/>
              </a:ext>
            </a:extLst>
          </p:cNvPr>
          <p:cNvCxnSpPr>
            <a:cxnSpLocks/>
          </p:cNvCxnSpPr>
          <p:nvPr/>
        </p:nvCxnSpPr>
        <p:spPr>
          <a:xfrm flipV="1">
            <a:off x="2624077" y="2750628"/>
            <a:ext cx="3848285" cy="2272781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lipse 50">
            <a:extLst>
              <a:ext uri="{FF2B5EF4-FFF2-40B4-BE49-F238E27FC236}">
                <a16:creationId xmlns:a16="http://schemas.microsoft.com/office/drawing/2014/main" id="{7E94B83C-9FD9-5072-D6CC-8B810B700469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3882BF61-7023-409F-9CCB-DCBA9D55A512}"/>
              </a:ext>
            </a:extLst>
          </p:cNvPr>
          <p:cNvCxnSpPr>
            <a:cxnSpLocks/>
          </p:cNvCxnSpPr>
          <p:nvPr/>
        </p:nvCxnSpPr>
        <p:spPr>
          <a:xfrm flipV="1">
            <a:off x="2052352" y="5027637"/>
            <a:ext cx="571725" cy="325628"/>
          </a:xfrm>
          <a:prstGeom prst="line">
            <a:avLst/>
          </a:prstGeom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8423206F-F65C-A4F1-B15F-16CB0DFAA6FC}"/>
              </a:ext>
            </a:extLst>
          </p:cNvPr>
          <p:cNvSpPr txBox="1">
            <a:spLocks/>
          </p:cNvSpPr>
          <p:nvPr/>
        </p:nvSpPr>
        <p:spPr>
          <a:xfrm>
            <a:off x="1559585" y="551254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7799920A-FBFE-AEF7-F4DF-85E4716FFFBD}"/>
              </a:ext>
            </a:extLst>
          </p:cNvPr>
          <p:cNvSpPr txBox="1">
            <a:spLocks/>
          </p:cNvSpPr>
          <p:nvPr/>
        </p:nvSpPr>
        <p:spPr>
          <a:xfrm>
            <a:off x="5117909" y="342251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471AA6A6-3245-BB84-7AE4-B67680A30734}"/>
              </a:ext>
            </a:extLst>
          </p:cNvPr>
          <p:cNvCxnSpPr>
            <a:cxnSpLocks/>
          </p:cNvCxnSpPr>
          <p:nvPr/>
        </p:nvCxnSpPr>
        <p:spPr>
          <a:xfrm flipV="1">
            <a:off x="1973881" y="5389094"/>
            <a:ext cx="0" cy="507128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33635A3E-39C8-D3DF-4CAE-9068ABA4715C}"/>
              </a:ext>
            </a:extLst>
          </p:cNvPr>
          <p:cNvCxnSpPr>
            <a:cxnSpLocks/>
          </p:cNvCxnSpPr>
          <p:nvPr/>
        </p:nvCxnSpPr>
        <p:spPr>
          <a:xfrm>
            <a:off x="5004369" y="3645133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Bogen 47">
            <a:extLst>
              <a:ext uri="{FF2B5EF4-FFF2-40B4-BE49-F238E27FC236}">
                <a16:creationId xmlns:a16="http://schemas.microsoft.com/office/drawing/2014/main" id="{606259B6-7E07-F364-6E36-4EB0388AFB80}"/>
              </a:ext>
            </a:extLst>
          </p:cNvPr>
          <p:cNvSpPr/>
          <p:nvPr/>
        </p:nvSpPr>
        <p:spPr>
          <a:xfrm>
            <a:off x="5081977" y="3393874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3130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F63D3-47EE-AE79-3E91-439C381E9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4E570B5E-C3A8-6CF4-4C7E-2C0D4FE13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215B1CF5-2C61-8683-9FE8-526376625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 keeps trying different </a:t>
            </a:r>
            <a:r>
              <a:rPr lang="en-US" sz="2400" noProof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vaues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of </a:t>
            </a:r>
            <a:r>
              <a:rPr lang="en-US" sz="2400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and </a:t>
            </a:r>
            <a:r>
              <a:rPr lang="en-US" sz="2400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until it finds the values with the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Minimum sum of errors</a:t>
            </a: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DCAC3D11-FA9F-47FD-8DBC-7B9E14306CD6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B1322C7-1472-E5E2-634B-DDEC4BBCE5FC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8B59D1A1-7FAB-DB90-9D23-F4BCD74ADBBC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15AB793-8080-A006-6260-9DD142BF2D30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D11323C-B1F0-F276-8F00-C79B49BF6CC4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7E95D53-D520-1382-0FA9-5486E55D3C1A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0F5BEEC-13E2-3949-56FF-8C21590F9D3F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D5BCD04-1736-4CB7-817A-EDDD8A3A5952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EE6F5433-722B-54D1-FC9E-DD881243B670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C425BD37-2709-5889-8FDF-42E6BC8CC1C6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0A4678F-D9F5-469F-E22C-1514CC3B8145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B18B0074-D010-CD0D-35C6-920071242CC2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AFB70B42-F9E0-257B-6248-FD1EE59C5042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9D28808E-D110-BB34-1A3F-80FEC07BA117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38B6F6F5-1CE9-529B-A3D5-BA20B8A9C673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B6DE715-EFFC-8051-6A7B-57DF58870127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8CC06323-305E-6971-F08B-E4150B1C3912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CCDD5525-E566-C7FE-7DBF-DB7B5F3E0766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C82977A8-C6D0-5C49-3539-420706130342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6D06CC32-76D7-E2C7-24BE-408E1BA86699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7DC8866-2B1B-7587-55A2-9194D53722C3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0032A9BE-6EC7-F360-B34F-F96E0F3E9C48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9A78CB13-825B-B789-67C7-1445EF2B038B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A05EB810-FA2C-173A-C140-998E218BD562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F13AA6C2-96CB-A846-F452-4EC19383113F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E0EEF94C-A61F-54FD-3C9E-72889B9DB046}"/>
              </a:ext>
            </a:extLst>
          </p:cNvPr>
          <p:cNvCxnSpPr>
            <a:cxnSpLocks/>
          </p:cNvCxnSpPr>
          <p:nvPr/>
        </p:nvCxnSpPr>
        <p:spPr>
          <a:xfrm flipV="1">
            <a:off x="2624077" y="2750628"/>
            <a:ext cx="3848285" cy="2272781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lipse 50">
            <a:extLst>
              <a:ext uri="{FF2B5EF4-FFF2-40B4-BE49-F238E27FC236}">
                <a16:creationId xmlns:a16="http://schemas.microsoft.com/office/drawing/2014/main" id="{5A0EF074-0DB9-76BE-2F20-18F939C9A89D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2B5A8D13-D6F9-72D6-738B-9842B5A96CDA}"/>
              </a:ext>
            </a:extLst>
          </p:cNvPr>
          <p:cNvCxnSpPr>
            <a:cxnSpLocks/>
          </p:cNvCxnSpPr>
          <p:nvPr/>
        </p:nvCxnSpPr>
        <p:spPr>
          <a:xfrm flipV="1">
            <a:off x="2052352" y="5027637"/>
            <a:ext cx="571725" cy="325628"/>
          </a:xfrm>
          <a:prstGeom prst="line">
            <a:avLst/>
          </a:prstGeom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8BE6817C-CDCE-B7AC-CF81-4973C12B3EDE}"/>
              </a:ext>
            </a:extLst>
          </p:cNvPr>
          <p:cNvSpPr txBox="1">
            <a:spLocks/>
          </p:cNvSpPr>
          <p:nvPr/>
        </p:nvSpPr>
        <p:spPr>
          <a:xfrm>
            <a:off x="1559585" y="551254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D8676341-0612-8431-AD7A-746A617ABFB1}"/>
              </a:ext>
            </a:extLst>
          </p:cNvPr>
          <p:cNvSpPr txBox="1">
            <a:spLocks/>
          </p:cNvSpPr>
          <p:nvPr/>
        </p:nvSpPr>
        <p:spPr>
          <a:xfrm>
            <a:off x="5117909" y="342251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D1947E7-40A5-2A6B-1817-17BA4EDA5214}"/>
              </a:ext>
            </a:extLst>
          </p:cNvPr>
          <p:cNvCxnSpPr>
            <a:cxnSpLocks/>
          </p:cNvCxnSpPr>
          <p:nvPr/>
        </p:nvCxnSpPr>
        <p:spPr>
          <a:xfrm flipV="1">
            <a:off x="1973881" y="5389094"/>
            <a:ext cx="0" cy="507128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5F587CF2-7325-A1D8-64BE-309F755C261C}"/>
              </a:ext>
            </a:extLst>
          </p:cNvPr>
          <p:cNvCxnSpPr>
            <a:cxnSpLocks/>
          </p:cNvCxnSpPr>
          <p:nvPr/>
        </p:nvCxnSpPr>
        <p:spPr>
          <a:xfrm>
            <a:off x="5004369" y="3645133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Bogen 47">
            <a:extLst>
              <a:ext uri="{FF2B5EF4-FFF2-40B4-BE49-F238E27FC236}">
                <a16:creationId xmlns:a16="http://schemas.microsoft.com/office/drawing/2014/main" id="{9468A449-1AD0-B704-D78A-6436EA594CFE}"/>
              </a:ext>
            </a:extLst>
          </p:cNvPr>
          <p:cNvSpPr/>
          <p:nvPr/>
        </p:nvSpPr>
        <p:spPr>
          <a:xfrm>
            <a:off x="5081977" y="3393874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6797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83F59-8F7E-D5D7-905F-C2D5643D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9058BA5E-4151-2E4F-71A7-307F149DE8E9}"/>
              </a:ext>
            </a:extLst>
          </p:cNvPr>
          <p:cNvCxnSpPr>
            <a:cxnSpLocks/>
          </p:cNvCxnSpPr>
          <p:nvPr/>
        </p:nvCxnSpPr>
        <p:spPr>
          <a:xfrm flipV="1">
            <a:off x="2197713" y="2750628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F512B7D4-61B9-2E64-AD13-1A95EEC23A42}"/>
              </a:ext>
            </a:extLst>
          </p:cNvPr>
          <p:cNvCxnSpPr>
            <a:cxnSpLocks/>
          </p:cNvCxnSpPr>
          <p:nvPr/>
        </p:nvCxnSpPr>
        <p:spPr>
          <a:xfrm flipV="1">
            <a:off x="2100805" y="3573098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18E66B57-A477-4623-FB49-A30FC471272F}"/>
              </a:ext>
            </a:extLst>
          </p:cNvPr>
          <p:cNvCxnSpPr>
            <a:cxnSpLocks/>
          </p:cNvCxnSpPr>
          <p:nvPr/>
        </p:nvCxnSpPr>
        <p:spPr>
          <a:xfrm flipV="1">
            <a:off x="2100805" y="4385483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AA767F8B-E5A3-03E6-95E4-6770C9A5167D}"/>
              </a:ext>
            </a:extLst>
          </p:cNvPr>
          <p:cNvCxnSpPr>
            <a:cxnSpLocks/>
          </p:cNvCxnSpPr>
          <p:nvPr/>
        </p:nvCxnSpPr>
        <p:spPr>
          <a:xfrm flipV="1">
            <a:off x="2110383" y="5226284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3F405A5C-7AA9-EE62-354C-786511CD46B1}"/>
              </a:ext>
            </a:extLst>
          </p:cNvPr>
          <p:cNvCxnSpPr>
            <a:cxnSpLocks/>
          </p:cNvCxnSpPr>
          <p:nvPr/>
        </p:nvCxnSpPr>
        <p:spPr>
          <a:xfrm flipV="1">
            <a:off x="3424363" y="2393343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8D800D7F-D4CE-447A-9CA0-AE9BA91E0D14}"/>
              </a:ext>
            </a:extLst>
          </p:cNvPr>
          <p:cNvCxnSpPr>
            <a:cxnSpLocks/>
          </p:cNvCxnSpPr>
          <p:nvPr/>
        </p:nvCxnSpPr>
        <p:spPr>
          <a:xfrm flipV="1">
            <a:off x="4866246" y="2393342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734838AC-DFC3-AF11-7F1C-BA8525D0382C}"/>
              </a:ext>
            </a:extLst>
          </p:cNvPr>
          <p:cNvCxnSpPr>
            <a:cxnSpLocks/>
          </p:cNvCxnSpPr>
          <p:nvPr/>
        </p:nvCxnSpPr>
        <p:spPr>
          <a:xfrm flipV="1">
            <a:off x="6182332" y="2393341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E6A13DFB-E165-813C-920F-E7696454F20A}"/>
              </a:ext>
            </a:extLst>
          </p:cNvPr>
          <p:cNvCxnSpPr>
            <a:cxnSpLocks/>
          </p:cNvCxnSpPr>
          <p:nvPr/>
        </p:nvCxnSpPr>
        <p:spPr>
          <a:xfrm flipV="1">
            <a:off x="5546035" y="2436366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EEE02773-BF35-8329-5814-74BC8A9D89B6}"/>
              </a:ext>
            </a:extLst>
          </p:cNvPr>
          <p:cNvCxnSpPr>
            <a:cxnSpLocks/>
          </p:cNvCxnSpPr>
          <p:nvPr/>
        </p:nvCxnSpPr>
        <p:spPr>
          <a:xfrm flipV="1">
            <a:off x="4147930" y="2414206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el 1">
            <a:extLst>
              <a:ext uri="{FF2B5EF4-FFF2-40B4-BE49-F238E27FC236}">
                <a16:creationId xmlns:a16="http://schemas.microsoft.com/office/drawing/2014/main" id="{29C08BD4-DAF3-A89B-BEB0-C45E48255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A419B9C-DEBC-D486-4A5A-675E249E9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slope B is crucial for understanding the </a:t>
            </a:r>
            <a:r>
              <a:rPr lang="en-US" sz="2400" noProof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relatonship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between x and y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the </a:t>
            </a:r>
            <a:r>
              <a:rPr lang="en-US" sz="2400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steeper line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one extra hour of studying increases the grades by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the </a:t>
            </a:r>
            <a:r>
              <a:rPr lang="en-US" sz="2400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flatter line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one extra hour of studying increases the grades by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  <a:endParaRPr lang="en-US" sz="12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763F3CDB-A357-C3B6-B6FA-D3EAB47E55A0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93D51E8D-45A5-5A57-03D4-2BB4FB68F2AE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59E70392-3CA0-EDFA-D3F2-D45A19065477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49B4D7F-6F93-A183-8486-6C8C82C6788C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39176D38-B972-805F-032B-59CAAFBC0D9B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F0E88332-B10F-373A-F9C0-F50F843830D9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C9F801CC-52F8-6DCE-E875-9FE3F03BA3EC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7874FAA6-2721-9587-2C3C-856E4CB20960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88C6C826-E392-76C4-490B-B37F38815AAE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272EC8B7-FB2D-F351-FEBB-D2FF0022332F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376D0360-C9C9-9EC5-495B-3D03F8F1E3BF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13A4A369-2C1E-4CEC-0F3D-2BA33AD71483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135B6000-CF53-E46F-288D-AF54C0C959F6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F1FB2FB9-7622-BF45-52DA-2D46AC1D55AE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D093BF86-FA5B-2C8E-D98A-7417226676F8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BFA10AF8-149E-6BBF-9B02-4D0C50114D2D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17A10FB5-0B79-5934-F5AF-AD652EE9C8FA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84F28782-A07A-08D2-3D43-BF54F3F2A2B8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538D68C-B011-25FE-F429-D2F84E1CB6BE}"/>
              </a:ext>
            </a:extLst>
          </p:cNvPr>
          <p:cNvCxnSpPr>
            <a:cxnSpLocks/>
          </p:cNvCxnSpPr>
          <p:nvPr/>
        </p:nvCxnSpPr>
        <p:spPr>
          <a:xfrm flipV="1">
            <a:off x="2599588" y="2608984"/>
            <a:ext cx="3912530" cy="2255652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ACE89420-6429-16F1-E0F1-38B82A9156F6}"/>
              </a:ext>
            </a:extLst>
          </p:cNvPr>
          <p:cNvSpPr txBox="1">
            <a:spLocks/>
          </p:cNvSpPr>
          <p:nvPr/>
        </p:nvSpPr>
        <p:spPr>
          <a:xfrm>
            <a:off x="5562178" y="299282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EC7F16AF-3C3A-EFF5-8307-9F12235AA5F5}"/>
              </a:ext>
            </a:extLst>
          </p:cNvPr>
          <p:cNvCxnSpPr>
            <a:cxnSpLocks/>
          </p:cNvCxnSpPr>
          <p:nvPr/>
        </p:nvCxnSpPr>
        <p:spPr>
          <a:xfrm>
            <a:off x="5521133" y="3223714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Bogen 47">
            <a:extLst>
              <a:ext uri="{FF2B5EF4-FFF2-40B4-BE49-F238E27FC236}">
                <a16:creationId xmlns:a16="http://schemas.microsoft.com/office/drawing/2014/main" id="{21F6D8C0-3549-23CC-DF1F-09FA534E3DF1}"/>
              </a:ext>
            </a:extLst>
          </p:cNvPr>
          <p:cNvSpPr/>
          <p:nvPr/>
        </p:nvSpPr>
        <p:spPr>
          <a:xfrm>
            <a:off x="5551632" y="2987802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B2DEFC0-A751-A329-FB3A-E3921839DBD0}"/>
              </a:ext>
            </a:extLst>
          </p:cNvPr>
          <p:cNvCxnSpPr>
            <a:cxnSpLocks/>
          </p:cNvCxnSpPr>
          <p:nvPr/>
        </p:nvCxnSpPr>
        <p:spPr>
          <a:xfrm flipV="1">
            <a:off x="3179472" y="2355120"/>
            <a:ext cx="2688519" cy="321648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C3D29021-0558-6669-6BBE-573E4ACA09B5}"/>
              </a:ext>
            </a:extLst>
          </p:cNvPr>
          <p:cNvSpPr txBox="1">
            <a:spLocks/>
          </p:cNvSpPr>
          <p:nvPr/>
        </p:nvSpPr>
        <p:spPr>
          <a:xfrm>
            <a:off x="3623464" y="4747333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4C35F7F2-FC15-9731-992E-6823AA1A27F7}"/>
              </a:ext>
            </a:extLst>
          </p:cNvPr>
          <p:cNvCxnSpPr>
            <a:cxnSpLocks/>
          </p:cNvCxnSpPr>
          <p:nvPr/>
        </p:nvCxnSpPr>
        <p:spPr>
          <a:xfrm>
            <a:off x="3692547" y="4972568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Bogen 21">
            <a:extLst>
              <a:ext uri="{FF2B5EF4-FFF2-40B4-BE49-F238E27FC236}">
                <a16:creationId xmlns:a16="http://schemas.microsoft.com/office/drawing/2014/main" id="{87F79879-E773-A1B2-9465-526A001CC14D}"/>
              </a:ext>
            </a:extLst>
          </p:cNvPr>
          <p:cNvSpPr/>
          <p:nvPr/>
        </p:nvSpPr>
        <p:spPr>
          <a:xfrm>
            <a:off x="3570779" y="4727239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7" name="Inhaltsplatzhalter 2">
            <a:extLst>
              <a:ext uri="{FF2B5EF4-FFF2-40B4-BE49-F238E27FC236}">
                <a16:creationId xmlns:a16="http://schemas.microsoft.com/office/drawing/2014/main" id="{464B26A9-CCFD-C3A8-7E31-8E3DDAFAD6E8}"/>
              </a:ext>
            </a:extLst>
          </p:cNvPr>
          <p:cNvSpPr txBox="1">
            <a:spLocks/>
          </p:cNvSpPr>
          <p:nvPr/>
        </p:nvSpPr>
        <p:spPr>
          <a:xfrm>
            <a:off x="2091398" y="4882244"/>
            <a:ext cx="1011009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CE57C7C9-C24F-48C0-BB90-11CAEEEEB815}"/>
              </a:ext>
            </a:extLst>
          </p:cNvPr>
          <p:cNvSpPr txBox="1">
            <a:spLocks/>
          </p:cNvSpPr>
          <p:nvPr/>
        </p:nvSpPr>
        <p:spPr>
          <a:xfrm>
            <a:off x="2500625" y="5606508"/>
            <a:ext cx="1011009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accent5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372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395F3-5902-5A74-93FB-00613346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892864FD-CF44-DFBC-0FA9-9529BFA797AF}"/>
              </a:ext>
            </a:extLst>
          </p:cNvPr>
          <p:cNvCxnSpPr>
            <a:cxnSpLocks/>
          </p:cNvCxnSpPr>
          <p:nvPr/>
        </p:nvCxnSpPr>
        <p:spPr>
          <a:xfrm flipV="1">
            <a:off x="2197713" y="2750628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3E1BCE18-26D9-8FF1-25E0-478A2E7777FB}"/>
              </a:ext>
            </a:extLst>
          </p:cNvPr>
          <p:cNvCxnSpPr>
            <a:cxnSpLocks/>
          </p:cNvCxnSpPr>
          <p:nvPr/>
        </p:nvCxnSpPr>
        <p:spPr>
          <a:xfrm flipV="1">
            <a:off x="2100805" y="3573098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92A061B0-8A65-5972-19C0-820A49B7961B}"/>
              </a:ext>
            </a:extLst>
          </p:cNvPr>
          <p:cNvCxnSpPr>
            <a:cxnSpLocks/>
          </p:cNvCxnSpPr>
          <p:nvPr/>
        </p:nvCxnSpPr>
        <p:spPr>
          <a:xfrm flipV="1">
            <a:off x="2100805" y="4385483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722D2BC5-B1AE-2861-112E-65281898CEBE}"/>
              </a:ext>
            </a:extLst>
          </p:cNvPr>
          <p:cNvCxnSpPr>
            <a:cxnSpLocks/>
          </p:cNvCxnSpPr>
          <p:nvPr/>
        </p:nvCxnSpPr>
        <p:spPr>
          <a:xfrm flipV="1">
            <a:off x="2110383" y="5226284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FEBA4C4-0A7B-B2F8-E1A2-668906C243DB}"/>
              </a:ext>
            </a:extLst>
          </p:cNvPr>
          <p:cNvCxnSpPr>
            <a:cxnSpLocks/>
          </p:cNvCxnSpPr>
          <p:nvPr/>
        </p:nvCxnSpPr>
        <p:spPr>
          <a:xfrm flipV="1">
            <a:off x="3424363" y="2393343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89423DBB-6C1E-60B9-F16C-A070EB5525D5}"/>
              </a:ext>
            </a:extLst>
          </p:cNvPr>
          <p:cNvCxnSpPr>
            <a:cxnSpLocks/>
          </p:cNvCxnSpPr>
          <p:nvPr/>
        </p:nvCxnSpPr>
        <p:spPr>
          <a:xfrm flipV="1">
            <a:off x="4866246" y="2393342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8464BA0E-5FEA-CC7A-E9DC-E1F72304471C}"/>
              </a:ext>
            </a:extLst>
          </p:cNvPr>
          <p:cNvCxnSpPr>
            <a:cxnSpLocks/>
          </p:cNvCxnSpPr>
          <p:nvPr/>
        </p:nvCxnSpPr>
        <p:spPr>
          <a:xfrm flipV="1">
            <a:off x="6182332" y="2393341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AC657002-250B-16F0-092B-96F43BB5589F}"/>
              </a:ext>
            </a:extLst>
          </p:cNvPr>
          <p:cNvCxnSpPr>
            <a:cxnSpLocks/>
          </p:cNvCxnSpPr>
          <p:nvPr/>
        </p:nvCxnSpPr>
        <p:spPr>
          <a:xfrm flipV="1">
            <a:off x="5546035" y="2436366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84FDAC53-04B3-6664-59DF-2A502CA7C0E7}"/>
              </a:ext>
            </a:extLst>
          </p:cNvPr>
          <p:cNvCxnSpPr>
            <a:cxnSpLocks/>
          </p:cNvCxnSpPr>
          <p:nvPr/>
        </p:nvCxnSpPr>
        <p:spPr>
          <a:xfrm flipV="1">
            <a:off x="4147930" y="2414206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el 1">
            <a:extLst>
              <a:ext uri="{FF2B5EF4-FFF2-40B4-BE49-F238E27FC236}">
                <a16:creationId xmlns:a16="http://schemas.microsoft.com/office/drawing/2014/main" id="{EBF74CFF-86E4-FA28-FD08-DE6404160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1842228B-E45F-E481-4CFE-E7C359B81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slope (coefficient) of </a:t>
            </a:r>
            <a:r>
              <a:rPr lang="en-US" sz="2400" noProof="0" dirty="0">
                <a:solidFill>
                  <a:schemeClr val="accent5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1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double that of </a:t>
            </a:r>
            <a:r>
              <a:rPr lang="en-US" sz="2400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2</a:t>
            </a:r>
            <a:endParaRPr lang="en-US" sz="1000" noProof="0" dirty="0">
              <a:solidFill>
                <a:srgbClr val="0000F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br>
              <a:rPr lang="en-US" sz="1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noProof="0" dirty="0">
                <a:solidFill>
                  <a:schemeClr val="accent5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1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students study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doubly more efficient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than </a:t>
            </a:r>
            <a:r>
              <a:rPr lang="en-US" sz="2400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2</a:t>
            </a:r>
            <a:endParaRPr lang="en-US" baseline="-25000" noProof="0" dirty="0">
              <a:solidFill>
                <a:srgbClr val="0000F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77AD2C31-0AF8-E1D1-E345-9121A1EEFB22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01152662-31AA-5A19-82BB-30E5F097766D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7D4EEA8-315F-842F-247E-C6F82AD04EA1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F1D9A689-FC0E-A69C-1A5B-F8A75392E1CA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0799B9DD-3D41-8FF0-CB3A-D92F4D4DC445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69437F8B-C9CC-1C9D-454F-E1401B0D9D30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C80C4D3C-8EBB-3CC6-F792-A0992CD7A56F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78084CF1-E347-0457-729C-676D8D3EAD3B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E85F416A-9EE9-0011-281A-8C71A204F926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5F58EE31-90F9-B73E-5B97-606CC5F46979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EAD83ABC-77F7-2F5F-A1F8-02774D261986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3969874F-F3C4-6E14-B4CF-72CC384F23C4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9B724066-B629-1719-67A0-022B8FCBFEA1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3351F81-0778-B101-2973-29E9150FEEB4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0CDC240A-3ECD-A2A3-5D32-899CD014C313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39437528-F910-6D47-0DD3-2128FF0D0580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4D613DB7-90DD-8FEB-903D-1BF4DA1A3070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9E8E3426-848D-BDC2-D66F-31C8E085B66E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0457D8A3-EC64-F617-7CEE-739DEF308780}"/>
              </a:ext>
            </a:extLst>
          </p:cNvPr>
          <p:cNvCxnSpPr>
            <a:cxnSpLocks/>
          </p:cNvCxnSpPr>
          <p:nvPr/>
        </p:nvCxnSpPr>
        <p:spPr>
          <a:xfrm flipV="1">
            <a:off x="2599588" y="2608984"/>
            <a:ext cx="3912530" cy="2255652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439B41D7-4383-F47F-8167-AD43F8845CE2}"/>
              </a:ext>
            </a:extLst>
          </p:cNvPr>
          <p:cNvSpPr txBox="1">
            <a:spLocks/>
          </p:cNvSpPr>
          <p:nvPr/>
        </p:nvSpPr>
        <p:spPr>
          <a:xfrm>
            <a:off x="5562178" y="299282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3C4E16D8-6D5F-80B7-76F5-81C99C18B4E7}"/>
              </a:ext>
            </a:extLst>
          </p:cNvPr>
          <p:cNvCxnSpPr>
            <a:cxnSpLocks/>
          </p:cNvCxnSpPr>
          <p:nvPr/>
        </p:nvCxnSpPr>
        <p:spPr>
          <a:xfrm>
            <a:off x="5521133" y="3223714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Bogen 47">
            <a:extLst>
              <a:ext uri="{FF2B5EF4-FFF2-40B4-BE49-F238E27FC236}">
                <a16:creationId xmlns:a16="http://schemas.microsoft.com/office/drawing/2014/main" id="{A2C92E4B-DC46-DCCD-A390-0AD3A65EA4D4}"/>
              </a:ext>
            </a:extLst>
          </p:cNvPr>
          <p:cNvSpPr/>
          <p:nvPr/>
        </p:nvSpPr>
        <p:spPr>
          <a:xfrm>
            <a:off x="5551632" y="2987802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6B73B0A-D22A-1CFC-C5DC-EA179F634851}"/>
              </a:ext>
            </a:extLst>
          </p:cNvPr>
          <p:cNvCxnSpPr>
            <a:cxnSpLocks/>
          </p:cNvCxnSpPr>
          <p:nvPr/>
        </p:nvCxnSpPr>
        <p:spPr>
          <a:xfrm flipV="1">
            <a:off x="3179472" y="2355120"/>
            <a:ext cx="2688519" cy="321648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ED751C18-8546-DD5F-D7C7-015EBEBAD7AB}"/>
              </a:ext>
            </a:extLst>
          </p:cNvPr>
          <p:cNvSpPr txBox="1">
            <a:spLocks/>
          </p:cNvSpPr>
          <p:nvPr/>
        </p:nvSpPr>
        <p:spPr>
          <a:xfrm>
            <a:off x="3623464" y="4747333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46F07867-A73E-58F8-4497-AD6D977645F7}"/>
              </a:ext>
            </a:extLst>
          </p:cNvPr>
          <p:cNvCxnSpPr>
            <a:cxnSpLocks/>
          </p:cNvCxnSpPr>
          <p:nvPr/>
        </p:nvCxnSpPr>
        <p:spPr>
          <a:xfrm>
            <a:off x="3692547" y="4972568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Bogen 21">
            <a:extLst>
              <a:ext uri="{FF2B5EF4-FFF2-40B4-BE49-F238E27FC236}">
                <a16:creationId xmlns:a16="http://schemas.microsoft.com/office/drawing/2014/main" id="{62F86853-53A6-CB7F-8D9A-01114E1ABD98}"/>
              </a:ext>
            </a:extLst>
          </p:cNvPr>
          <p:cNvSpPr/>
          <p:nvPr/>
        </p:nvSpPr>
        <p:spPr>
          <a:xfrm>
            <a:off x="3570779" y="4727239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7" name="Inhaltsplatzhalter 2">
            <a:extLst>
              <a:ext uri="{FF2B5EF4-FFF2-40B4-BE49-F238E27FC236}">
                <a16:creationId xmlns:a16="http://schemas.microsoft.com/office/drawing/2014/main" id="{452A83C6-576B-ECC6-CC30-9101A390EAE4}"/>
              </a:ext>
            </a:extLst>
          </p:cNvPr>
          <p:cNvSpPr txBox="1">
            <a:spLocks/>
          </p:cNvSpPr>
          <p:nvPr/>
        </p:nvSpPr>
        <p:spPr>
          <a:xfrm>
            <a:off x="2091398" y="4882244"/>
            <a:ext cx="1011009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487BF410-4A8C-2762-C555-ACB5C06605BF}"/>
              </a:ext>
            </a:extLst>
          </p:cNvPr>
          <p:cNvSpPr txBox="1">
            <a:spLocks/>
          </p:cNvSpPr>
          <p:nvPr/>
        </p:nvSpPr>
        <p:spPr>
          <a:xfrm>
            <a:off x="2500625" y="5606508"/>
            <a:ext cx="1011009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accent5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050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A5566-717D-0211-19F2-DEA07EF0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47F7842-4CE8-8BBD-7729-39FC6F70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1438160-9104-531D-D09C-5966BBC5D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You have a class of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12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students (population), you asked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students (sample) who were present about how many hours they study</a:t>
            </a:r>
            <a:endParaRPr lang="en-US" sz="1000" noProof="0" dirty="0">
              <a:solidFill>
                <a:srgbClr val="0000F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10F372B5-F6FE-35D1-BE83-AECC9118DB3B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332271A7-1276-4451-EF7B-C18BB9DFBA82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2D9ABE32-5727-9C03-92F1-150D453189EA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094E878E-A248-6C34-A6DC-F6E379C2FEEF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43A54AB-7BF6-0193-CBF1-A79FDEF7883E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3041F55-EE51-4B55-D3B0-7FD1DB4220BF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77BC9C5-3139-05C5-0B35-E04064AAF4BD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30D5EFA-35D6-B4FD-0ECE-FC073806ED65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A47FAD3-D322-FB6C-77BC-8626300078FD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06D292A-51F1-7C81-B98D-933ECA584D74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C600F597-ECE4-5C7F-CFBC-AE6958D465D4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2CF60C9F-DC70-E3F1-F28F-7611E6D42A30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0284CCA1-6BDD-9166-4CC5-1AE6E2D945C8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E67CF106-A310-73E6-1EB8-3C4F134DCE14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A017256C-EF58-A7A1-DCBF-044F798B1A70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B3DB9373-DCA8-36EF-0E43-00BEE27FE093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35343E41-BC5F-8DFC-04E2-57B035ED5770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51CF9676-D0AB-4018-AF9C-B4F3321DE8FB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D37978F2-C0BB-7C78-4CBA-D794C3B71AF5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1D31D180-D97A-A530-2610-FEE55E898F97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572F6B94-CA2D-E9D3-D4E4-6342A81BEE80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nhaltsplatzhalter 2">
            <a:extLst>
              <a:ext uri="{FF2B5EF4-FFF2-40B4-BE49-F238E27FC236}">
                <a16:creationId xmlns:a16="http://schemas.microsoft.com/office/drawing/2014/main" id="{08CE35E6-794C-94B5-3B7F-305A35A9E4E5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2" name="Inhaltsplatzhalter 2">
            <a:extLst>
              <a:ext uri="{FF2B5EF4-FFF2-40B4-BE49-F238E27FC236}">
                <a16:creationId xmlns:a16="http://schemas.microsoft.com/office/drawing/2014/main" id="{36AB3F99-057D-15CB-1C90-12587B502AB4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E64A12DE-0836-3FA7-BE1A-7C0F804274DE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135E404C-C95F-9C7A-521E-B8BF221E8993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6FE93D54-3448-BCB7-9A07-036994EC76D4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0B47D0C1-D8B2-0D95-5CF2-4A57E8D94FDE}"/>
              </a:ext>
            </a:extLst>
          </p:cNvPr>
          <p:cNvSpPr/>
          <p:nvPr/>
        </p:nvSpPr>
        <p:spPr>
          <a:xfrm>
            <a:off x="5860041" y="2586532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4CB2DEFF-7409-5DAA-7030-B71DDBE6E4B2}"/>
              </a:ext>
            </a:extLst>
          </p:cNvPr>
          <p:cNvSpPr/>
          <p:nvPr/>
        </p:nvSpPr>
        <p:spPr>
          <a:xfrm>
            <a:off x="3204292" y="5129086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2E492B2D-0393-6100-C516-8BD8BF6742F9}"/>
              </a:ext>
            </a:extLst>
          </p:cNvPr>
          <p:cNvSpPr/>
          <p:nvPr/>
        </p:nvSpPr>
        <p:spPr>
          <a:xfrm>
            <a:off x="5730433" y="3892797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ADE6FA9A-88D9-FB08-4D51-1AF4169ECD46}"/>
              </a:ext>
            </a:extLst>
          </p:cNvPr>
          <p:cNvSpPr/>
          <p:nvPr/>
        </p:nvSpPr>
        <p:spPr>
          <a:xfrm>
            <a:off x="3582209" y="3887018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8" name="Inhaltsplatzhalter 2">
            <a:extLst>
              <a:ext uri="{FF2B5EF4-FFF2-40B4-BE49-F238E27FC236}">
                <a16:creationId xmlns:a16="http://schemas.microsoft.com/office/drawing/2014/main" id="{C4550819-58C4-7E34-1128-7AB703C915F8}"/>
              </a:ext>
            </a:extLst>
          </p:cNvPr>
          <p:cNvSpPr txBox="1">
            <a:spLocks/>
          </p:cNvSpPr>
          <p:nvPr/>
        </p:nvSpPr>
        <p:spPr>
          <a:xfrm>
            <a:off x="8077229" y="2607962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Present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noProof="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Absent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57CFF3AB-2F62-068A-F409-C73E8171A1EE}"/>
              </a:ext>
            </a:extLst>
          </p:cNvPr>
          <p:cNvSpPr/>
          <p:nvPr/>
        </p:nvSpPr>
        <p:spPr>
          <a:xfrm>
            <a:off x="8042175" y="270839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617882D8-D133-855A-5FA2-E783BE53979F}"/>
              </a:ext>
            </a:extLst>
          </p:cNvPr>
          <p:cNvSpPr/>
          <p:nvPr/>
        </p:nvSpPr>
        <p:spPr>
          <a:xfrm>
            <a:off x="8042175" y="3033341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93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F81EB-37F0-AD83-7492-DCD573E11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2B9CB8ED-673E-8171-2762-512C004E1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BA209079-7E53-E664-A840-E3A6E7481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our example, these four students were </a:t>
            </a:r>
            <a:r>
              <a:rPr lang="en-US" sz="2400" b="1" noProof="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absent,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if different four students were absent?</a:t>
            </a: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9735BA04-99BA-965F-DDA0-63F718D0A789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8B72D17B-F33A-50E7-BF0A-2DF2220FBD6D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64BFD3A-42EC-2DD1-F81E-5853750978EF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18F66513-30E3-A18E-8EBE-D97845B711DF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8BC23D4-CA4B-5C2A-56ED-B6AF5282948F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E3901C6-288C-38D1-8DE8-EEA6DF5A577F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B1E95031-CAEE-2EB2-E813-E7C40D65FF6E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33E6B7A-86C3-A329-78BF-C6011F2BDD00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E01BC8F-99DC-3009-E4AE-1D6F2BB00FAF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56ABF82-0B14-9732-36C0-EF697A6BF2DA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E405A5D-20E4-49B7-4C86-841C1259D10D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CFDF1D1C-F8CE-95A5-6695-F6A61D92F3B0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DB71B7B4-21F9-D16A-3C10-0E5D0C917D1E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929E7173-AAF1-6797-562A-7E9EFEF67998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0BD9B4DE-9A10-400E-0ACC-7D6F06B97615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47271531-8B0B-8D98-9445-6BAF3B4A4011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757A9D0C-35FF-0E5A-6682-78F07F6BF8F0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0A4203C3-8752-CE35-72A2-7978C52563D9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6FB4E1D2-5DD1-5F41-410D-A2902AF243C4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92027591-B34E-360F-BC12-083F9D678595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BBC23ECF-2102-51B2-AD40-4758E2C9BDA7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nhaltsplatzhalter 2">
            <a:extLst>
              <a:ext uri="{FF2B5EF4-FFF2-40B4-BE49-F238E27FC236}">
                <a16:creationId xmlns:a16="http://schemas.microsoft.com/office/drawing/2014/main" id="{38ECF825-A5E2-C6A4-3A49-FF6AB9C5034A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2" name="Inhaltsplatzhalter 2">
            <a:extLst>
              <a:ext uri="{FF2B5EF4-FFF2-40B4-BE49-F238E27FC236}">
                <a16:creationId xmlns:a16="http://schemas.microsoft.com/office/drawing/2014/main" id="{62150DA0-86A5-3A4A-C2ED-A5093903AA59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D696F51D-1F77-85A4-F78A-250BBAD02145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40C26C3B-F33A-F37F-1042-9CCCCE57D181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26E5FF98-8B06-59A8-E0AA-6ABE98AE012C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26CB43F3-25B1-5DE9-CF0F-8E4D6B2F2067}"/>
              </a:ext>
            </a:extLst>
          </p:cNvPr>
          <p:cNvSpPr/>
          <p:nvPr/>
        </p:nvSpPr>
        <p:spPr>
          <a:xfrm>
            <a:off x="5860041" y="2586532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EC5F73C4-8DF1-18E3-A629-36C68B3C3E36}"/>
              </a:ext>
            </a:extLst>
          </p:cNvPr>
          <p:cNvSpPr/>
          <p:nvPr/>
        </p:nvSpPr>
        <p:spPr>
          <a:xfrm>
            <a:off x="3204292" y="5129086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48E7C908-0BE8-47BB-8411-F73D97BC44E2}"/>
              </a:ext>
            </a:extLst>
          </p:cNvPr>
          <p:cNvSpPr/>
          <p:nvPr/>
        </p:nvSpPr>
        <p:spPr>
          <a:xfrm>
            <a:off x="5730433" y="3892797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832BF4C9-96A2-DE19-7DAB-43EE253CED15}"/>
              </a:ext>
            </a:extLst>
          </p:cNvPr>
          <p:cNvSpPr/>
          <p:nvPr/>
        </p:nvSpPr>
        <p:spPr>
          <a:xfrm>
            <a:off x="3582209" y="3887018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8" name="Inhaltsplatzhalter 2">
            <a:extLst>
              <a:ext uri="{FF2B5EF4-FFF2-40B4-BE49-F238E27FC236}">
                <a16:creationId xmlns:a16="http://schemas.microsoft.com/office/drawing/2014/main" id="{067C86FD-3566-57D1-9AA7-61E5DC09AEAE}"/>
              </a:ext>
            </a:extLst>
          </p:cNvPr>
          <p:cNvSpPr txBox="1">
            <a:spLocks/>
          </p:cNvSpPr>
          <p:nvPr/>
        </p:nvSpPr>
        <p:spPr>
          <a:xfrm>
            <a:off x="8077229" y="2607962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Present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noProof="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Absent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E602F16B-7D38-7B76-17A9-8032B167E430}"/>
              </a:ext>
            </a:extLst>
          </p:cNvPr>
          <p:cNvSpPr/>
          <p:nvPr/>
        </p:nvSpPr>
        <p:spPr>
          <a:xfrm>
            <a:off x="8042175" y="270839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FD8B0490-4CCA-4156-9D83-F311E58D1169}"/>
              </a:ext>
            </a:extLst>
          </p:cNvPr>
          <p:cNvSpPr/>
          <p:nvPr/>
        </p:nvSpPr>
        <p:spPr>
          <a:xfrm>
            <a:off x="8042175" y="3033341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48434971-9CA5-1E71-85CF-0F5F6DF3AFC3}"/>
              </a:ext>
            </a:extLst>
          </p:cNvPr>
          <p:cNvCxnSpPr>
            <a:cxnSpLocks/>
          </p:cNvCxnSpPr>
          <p:nvPr/>
        </p:nvCxnSpPr>
        <p:spPr>
          <a:xfrm flipV="1">
            <a:off x="2624077" y="2750628"/>
            <a:ext cx="3848285" cy="2272781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22C91809-9BD5-145A-BD1F-71EB46932077}"/>
              </a:ext>
            </a:extLst>
          </p:cNvPr>
          <p:cNvCxnSpPr>
            <a:cxnSpLocks/>
          </p:cNvCxnSpPr>
          <p:nvPr/>
        </p:nvCxnSpPr>
        <p:spPr>
          <a:xfrm flipV="1">
            <a:off x="2052352" y="5027637"/>
            <a:ext cx="571725" cy="325628"/>
          </a:xfrm>
          <a:prstGeom prst="line">
            <a:avLst/>
          </a:prstGeom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DB000EE-9191-294C-25E5-8DBB1A93CBD3}"/>
              </a:ext>
            </a:extLst>
          </p:cNvPr>
          <p:cNvSpPr txBox="1">
            <a:spLocks/>
          </p:cNvSpPr>
          <p:nvPr/>
        </p:nvSpPr>
        <p:spPr>
          <a:xfrm>
            <a:off x="1559585" y="551254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E1C29EE-9169-5677-9D7F-CD4419EFB40C}"/>
              </a:ext>
            </a:extLst>
          </p:cNvPr>
          <p:cNvSpPr txBox="1">
            <a:spLocks/>
          </p:cNvSpPr>
          <p:nvPr/>
        </p:nvSpPr>
        <p:spPr>
          <a:xfrm>
            <a:off x="5117909" y="342251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A3A0B3E8-553F-A21B-2E7E-A49B8ED6DE3E}"/>
              </a:ext>
            </a:extLst>
          </p:cNvPr>
          <p:cNvCxnSpPr>
            <a:cxnSpLocks/>
          </p:cNvCxnSpPr>
          <p:nvPr/>
        </p:nvCxnSpPr>
        <p:spPr>
          <a:xfrm flipV="1">
            <a:off x="1973881" y="5389094"/>
            <a:ext cx="0" cy="507128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3A86010-3B0E-7C71-FBA3-2510871D9E95}"/>
              </a:ext>
            </a:extLst>
          </p:cNvPr>
          <p:cNvCxnSpPr>
            <a:cxnSpLocks/>
          </p:cNvCxnSpPr>
          <p:nvPr/>
        </p:nvCxnSpPr>
        <p:spPr>
          <a:xfrm>
            <a:off x="5004369" y="3645133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Bogen 18">
            <a:extLst>
              <a:ext uri="{FF2B5EF4-FFF2-40B4-BE49-F238E27FC236}">
                <a16:creationId xmlns:a16="http://schemas.microsoft.com/office/drawing/2014/main" id="{2A646D06-F786-5D79-CF65-7B4A7C47C88C}"/>
              </a:ext>
            </a:extLst>
          </p:cNvPr>
          <p:cNvSpPr/>
          <p:nvPr/>
        </p:nvSpPr>
        <p:spPr>
          <a:xfrm>
            <a:off x="5081977" y="3393874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5509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D7A619-7A77-AEEF-BCE1-A14FD687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B2590CC-1C04-22F8-D2B9-16F8599FE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7BC669EC-6172-6601-225A-E6EEB3A63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if different four students were absent?</a:t>
            </a: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F704365D-B2B8-8B23-3BEC-2BAA25CA579B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46DC7ED0-208F-C58A-80D6-519ED3CD0F3B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B088583-1F9E-1754-6BC6-38A228F725CA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0A599FA7-5B86-2E5B-C5EF-40880D1CF04D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52A6A49-DA74-4E68-079C-3C3FFDF8E65E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E1316E4-48F7-79AB-7DAF-5FC8E51FB29B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ADD748A-654D-0008-A218-4A3BDEAF1747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A34A382-390A-DB67-EE56-98A0D6BB9EAA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934AF045-C067-EDE9-E8AA-42712A34FA04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7F1D98FA-0C91-175E-8074-EF09C3DF4D8C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20935876-C204-ACFA-E372-80A9E6AB608F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839EF52D-B641-FF5D-39D4-11CFD5E024AA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AAF46F09-1608-A52B-A0B9-8C415B3B4ADE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E2463449-18FD-3375-761D-83B155B5B0AE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69B5EDC9-FCFE-EB13-D7E5-B49019CAA65F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090A0792-20DF-03D7-4C4B-EFB6AD3FD2CC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447396A-1C21-E8D2-0372-F2F7EF3B767D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7419BBDE-3C69-7599-BF17-8B749921F34B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ADDBA150-172B-15AF-463C-56EF74452AFF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7EB0BE0A-3E5F-4DDD-68BB-1F37E75413B7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A003130E-DCB8-AA3F-0BE2-382B069AED07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nhaltsplatzhalter 2">
            <a:extLst>
              <a:ext uri="{FF2B5EF4-FFF2-40B4-BE49-F238E27FC236}">
                <a16:creationId xmlns:a16="http://schemas.microsoft.com/office/drawing/2014/main" id="{DBA4796A-5D53-B271-31A0-56670F0D3ABA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2" name="Inhaltsplatzhalter 2">
            <a:extLst>
              <a:ext uri="{FF2B5EF4-FFF2-40B4-BE49-F238E27FC236}">
                <a16:creationId xmlns:a16="http://schemas.microsoft.com/office/drawing/2014/main" id="{DBE7B680-E475-843C-C9EE-91F54C3A820F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4A2E33D0-3564-D1B7-C206-3F7AB5F0AD0E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43029869-E3B8-235D-7FE1-0813B8D96606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8A14B5FD-F55B-3CD7-C3B3-264970E0BC8A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3D83D9C6-6707-AD97-9B3A-E9ED9FA8F61E}"/>
              </a:ext>
            </a:extLst>
          </p:cNvPr>
          <p:cNvSpPr/>
          <p:nvPr/>
        </p:nvSpPr>
        <p:spPr>
          <a:xfrm>
            <a:off x="5860041" y="2586532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2F32A289-DC0B-1E4F-A0BA-F7AA32C7DD7B}"/>
              </a:ext>
            </a:extLst>
          </p:cNvPr>
          <p:cNvSpPr/>
          <p:nvPr/>
        </p:nvSpPr>
        <p:spPr>
          <a:xfrm>
            <a:off x="3204292" y="51290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CA6E578C-9FCE-F827-2318-4A113DACE14D}"/>
              </a:ext>
            </a:extLst>
          </p:cNvPr>
          <p:cNvSpPr/>
          <p:nvPr/>
        </p:nvSpPr>
        <p:spPr>
          <a:xfrm>
            <a:off x="5730433" y="3892797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258D5EFE-852B-8A18-80E1-6A22E0383B51}"/>
              </a:ext>
            </a:extLst>
          </p:cNvPr>
          <p:cNvSpPr/>
          <p:nvPr/>
        </p:nvSpPr>
        <p:spPr>
          <a:xfrm>
            <a:off x="3582209" y="388701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8" name="Inhaltsplatzhalter 2">
            <a:extLst>
              <a:ext uri="{FF2B5EF4-FFF2-40B4-BE49-F238E27FC236}">
                <a16:creationId xmlns:a16="http://schemas.microsoft.com/office/drawing/2014/main" id="{77329E8A-EC51-9241-3E83-2A953CEA2287}"/>
              </a:ext>
            </a:extLst>
          </p:cNvPr>
          <p:cNvSpPr txBox="1">
            <a:spLocks/>
          </p:cNvSpPr>
          <p:nvPr/>
        </p:nvSpPr>
        <p:spPr>
          <a:xfrm>
            <a:off x="8077229" y="2607962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Present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noProof="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Absent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74D8E47B-31E5-2185-291A-74FA92E1B608}"/>
              </a:ext>
            </a:extLst>
          </p:cNvPr>
          <p:cNvSpPr/>
          <p:nvPr/>
        </p:nvSpPr>
        <p:spPr>
          <a:xfrm>
            <a:off x="8042175" y="270839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D6DCECAE-C8EB-0A4F-A8B0-2605F0DB0F63}"/>
              </a:ext>
            </a:extLst>
          </p:cNvPr>
          <p:cNvSpPr/>
          <p:nvPr/>
        </p:nvSpPr>
        <p:spPr>
          <a:xfrm>
            <a:off x="8042175" y="3033341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4CAC2508-FDBB-1D6A-C503-EFE308BF8321}"/>
              </a:ext>
            </a:extLst>
          </p:cNvPr>
          <p:cNvCxnSpPr>
            <a:cxnSpLocks/>
          </p:cNvCxnSpPr>
          <p:nvPr/>
        </p:nvCxnSpPr>
        <p:spPr>
          <a:xfrm flipV="1">
            <a:off x="2720983" y="3231108"/>
            <a:ext cx="4055994" cy="1769191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BFF4815-21C3-70B2-0E5A-920FC03AC670}"/>
              </a:ext>
            </a:extLst>
          </p:cNvPr>
          <p:cNvCxnSpPr>
            <a:cxnSpLocks/>
          </p:cNvCxnSpPr>
          <p:nvPr/>
        </p:nvCxnSpPr>
        <p:spPr>
          <a:xfrm flipV="1">
            <a:off x="2125032" y="5000299"/>
            <a:ext cx="611687" cy="277631"/>
          </a:xfrm>
          <a:prstGeom prst="line">
            <a:avLst/>
          </a:prstGeom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D3FDA7C-54D3-AE75-A21E-D4F30EDBE34B}"/>
              </a:ext>
            </a:extLst>
          </p:cNvPr>
          <p:cNvSpPr txBox="1">
            <a:spLocks/>
          </p:cNvSpPr>
          <p:nvPr/>
        </p:nvSpPr>
        <p:spPr>
          <a:xfrm>
            <a:off x="1583812" y="5407787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5B12C6CE-CBD7-3AB8-26F0-46C6FBB5AA4E}"/>
              </a:ext>
            </a:extLst>
          </p:cNvPr>
          <p:cNvSpPr txBox="1">
            <a:spLocks/>
          </p:cNvSpPr>
          <p:nvPr/>
        </p:nvSpPr>
        <p:spPr>
          <a:xfrm>
            <a:off x="6050548" y="3402156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FCAEB950-B3DB-FA11-FBF2-1BE87116C153}"/>
              </a:ext>
            </a:extLst>
          </p:cNvPr>
          <p:cNvCxnSpPr>
            <a:cxnSpLocks/>
          </p:cNvCxnSpPr>
          <p:nvPr/>
        </p:nvCxnSpPr>
        <p:spPr>
          <a:xfrm flipV="1">
            <a:off x="1973881" y="5277930"/>
            <a:ext cx="0" cy="618292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8237581D-CF4E-C288-D52A-4DB0705FEB36}"/>
              </a:ext>
            </a:extLst>
          </p:cNvPr>
          <p:cNvCxnSpPr>
            <a:cxnSpLocks/>
          </p:cNvCxnSpPr>
          <p:nvPr/>
        </p:nvCxnSpPr>
        <p:spPr>
          <a:xfrm>
            <a:off x="5884668" y="3623537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Bogen 18">
            <a:extLst>
              <a:ext uri="{FF2B5EF4-FFF2-40B4-BE49-F238E27FC236}">
                <a16:creationId xmlns:a16="http://schemas.microsoft.com/office/drawing/2014/main" id="{64C42BAE-EDB7-F6A5-DD9F-306C5B07E28A}"/>
              </a:ext>
            </a:extLst>
          </p:cNvPr>
          <p:cNvSpPr/>
          <p:nvPr/>
        </p:nvSpPr>
        <p:spPr>
          <a:xfrm>
            <a:off x="6157624" y="3376299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40456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67245-3327-78B5-2736-5E90CB84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7FB3183-FA27-3AC7-2C24-ACC09BF0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4D8B42E0-B2EE-2119-0618-EA7747FEE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values of </a:t>
            </a:r>
            <a:r>
              <a:rPr lang="en-US" sz="24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and </a:t>
            </a:r>
            <a:r>
              <a:rPr lang="en-US" sz="24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keep changing depending on my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sample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!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uncertainty around the values of </a:t>
            </a:r>
            <a:r>
              <a:rPr lang="en-US" sz="2400" b="1" noProof="0" dirty="0">
                <a:solidFill>
                  <a:schemeClr val="accent5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and </a:t>
            </a:r>
            <a:r>
              <a:rPr lang="en-US" sz="24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due to relying on a sample is know as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Estimation </a:t>
            </a:r>
            <a:r>
              <a:rPr lang="en-US" sz="2400" b="1" noProof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uncertainity</a:t>
            </a:r>
            <a:endParaRPr lang="en-US" b="1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01DF2E2D-C810-1E0D-CF93-1FCE088CE44F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83B2A878-6E6A-0A7F-CD72-AC2658677403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8830B3C-2698-1385-80CE-D97CFE74950A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33E19B23-6E8E-D767-AE09-DE2ED29D95BD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CBF8A23-9DC2-A368-7C2A-2B352830F0F5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C6623EC-C721-1F99-A304-38E98488B8B8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B3655CEC-D43D-EB09-96CA-AB5B1820D53F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8BB8AC2-6E05-BCD9-63FA-25BD0005B198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A1FEBF9-FAF6-18A8-8114-05382092459B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4DB3FCB-2D57-F17F-9D79-E11E8CB1053D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04D8B74A-DB17-BA00-6260-6551AC81ADCC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65137EA-AD73-9C3E-8F59-793664E0B3E2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5AAB98F0-0C9D-5E93-82E5-771893CA0CFE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504A15E2-6F39-658A-DA0B-0EF72CE8160A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92A152C7-F931-E081-7C73-B70CFE5DC8F5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B61B1E7A-DE90-8D0A-E478-B8A95D5B6BC4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B3724FA3-6F1C-1BD8-B797-EEF4BBCE112C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122B2A14-0427-36C5-F6C0-7CC477DA46D3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86F3746A-9F1A-06DE-0792-0FC5A294BCB9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FD876440-0C7C-ED1F-A1BC-6212A153DB26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321C27B8-7A19-8F14-87DA-2B853B800F19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nhaltsplatzhalter 2">
            <a:extLst>
              <a:ext uri="{FF2B5EF4-FFF2-40B4-BE49-F238E27FC236}">
                <a16:creationId xmlns:a16="http://schemas.microsoft.com/office/drawing/2014/main" id="{CBECFB20-B757-78DB-02E1-AC0F3E487DAC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2" name="Inhaltsplatzhalter 2">
            <a:extLst>
              <a:ext uri="{FF2B5EF4-FFF2-40B4-BE49-F238E27FC236}">
                <a16:creationId xmlns:a16="http://schemas.microsoft.com/office/drawing/2014/main" id="{ED924523-A98A-1BF9-C78B-DBE73A54C341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70F549B5-1140-2B9F-2704-7EFFBEC7E89F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C8E9C3DB-F9F0-35F8-8639-0BD4C77D8B6E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8E192EFD-A788-93F4-F1B2-EF10B6FFB1F9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1FE0F490-6292-F566-1EA5-F7E3E296BB11}"/>
              </a:ext>
            </a:extLst>
          </p:cNvPr>
          <p:cNvSpPr/>
          <p:nvPr/>
        </p:nvSpPr>
        <p:spPr>
          <a:xfrm>
            <a:off x="5860041" y="2586532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076730C8-C582-5B1C-3098-48CC9D78A70E}"/>
              </a:ext>
            </a:extLst>
          </p:cNvPr>
          <p:cNvSpPr/>
          <p:nvPr/>
        </p:nvSpPr>
        <p:spPr>
          <a:xfrm>
            <a:off x="3204292" y="5129086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CAF34F0A-F4FD-7258-B2F7-CCA0DE03D9FA}"/>
              </a:ext>
            </a:extLst>
          </p:cNvPr>
          <p:cNvSpPr/>
          <p:nvPr/>
        </p:nvSpPr>
        <p:spPr>
          <a:xfrm>
            <a:off x="5730433" y="3892797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F330ACEB-A0B7-9D1B-8FA8-F857CBAAEEBF}"/>
              </a:ext>
            </a:extLst>
          </p:cNvPr>
          <p:cNvSpPr/>
          <p:nvPr/>
        </p:nvSpPr>
        <p:spPr>
          <a:xfrm>
            <a:off x="3582209" y="388701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8" name="Inhaltsplatzhalter 2">
            <a:extLst>
              <a:ext uri="{FF2B5EF4-FFF2-40B4-BE49-F238E27FC236}">
                <a16:creationId xmlns:a16="http://schemas.microsoft.com/office/drawing/2014/main" id="{7975C547-18C2-D8D9-670C-92D84C8275B7}"/>
              </a:ext>
            </a:extLst>
          </p:cNvPr>
          <p:cNvSpPr txBox="1">
            <a:spLocks/>
          </p:cNvSpPr>
          <p:nvPr/>
        </p:nvSpPr>
        <p:spPr>
          <a:xfrm>
            <a:off x="8077229" y="2607962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Present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noProof="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Absent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72DEF1B6-1564-A04A-BCE6-1BB5B799D652}"/>
              </a:ext>
            </a:extLst>
          </p:cNvPr>
          <p:cNvSpPr/>
          <p:nvPr/>
        </p:nvSpPr>
        <p:spPr>
          <a:xfrm>
            <a:off x="8042175" y="270839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D46AEA7E-1206-3991-D1CC-9BC984B290D1}"/>
              </a:ext>
            </a:extLst>
          </p:cNvPr>
          <p:cNvSpPr/>
          <p:nvPr/>
        </p:nvSpPr>
        <p:spPr>
          <a:xfrm>
            <a:off x="8042175" y="3033341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63CE3AD7-FE40-86BA-30CB-8CC47AB9BA44}"/>
              </a:ext>
            </a:extLst>
          </p:cNvPr>
          <p:cNvCxnSpPr>
            <a:cxnSpLocks/>
          </p:cNvCxnSpPr>
          <p:nvPr/>
        </p:nvCxnSpPr>
        <p:spPr>
          <a:xfrm flipV="1">
            <a:off x="2736719" y="2908706"/>
            <a:ext cx="3768856" cy="1643167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2685FEFA-5CB6-C0CB-0B8C-589FEF815E9F}"/>
              </a:ext>
            </a:extLst>
          </p:cNvPr>
          <p:cNvCxnSpPr>
            <a:cxnSpLocks/>
          </p:cNvCxnSpPr>
          <p:nvPr/>
        </p:nvCxnSpPr>
        <p:spPr>
          <a:xfrm flipV="1">
            <a:off x="2112919" y="4554130"/>
            <a:ext cx="611687" cy="277631"/>
          </a:xfrm>
          <a:prstGeom prst="line">
            <a:avLst/>
          </a:prstGeom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3C6E35B5-D472-31FB-5D05-FBDE33D97320}"/>
              </a:ext>
            </a:extLst>
          </p:cNvPr>
          <p:cNvSpPr txBox="1">
            <a:spLocks/>
          </p:cNvSpPr>
          <p:nvPr/>
        </p:nvSpPr>
        <p:spPr>
          <a:xfrm>
            <a:off x="1581420" y="536926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F59A28B6-5F5E-0F27-C9D7-64889F0D0912}"/>
              </a:ext>
            </a:extLst>
          </p:cNvPr>
          <p:cNvSpPr txBox="1">
            <a:spLocks/>
          </p:cNvSpPr>
          <p:nvPr/>
        </p:nvSpPr>
        <p:spPr>
          <a:xfrm>
            <a:off x="5150355" y="338231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122AF4A-486C-2938-2556-860B5D53C23B}"/>
              </a:ext>
            </a:extLst>
          </p:cNvPr>
          <p:cNvCxnSpPr>
            <a:cxnSpLocks/>
          </p:cNvCxnSpPr>
          <p:nvPr/>
        </p:nvCxnSpPr>
        <p:spPr>
          <a:xfrm flipV="1">
            <a:off x="2003898" y="4853146"/>
            <a:ext cx="0" cy="1106736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16B076B-84B9-99DB-30D2-8E8779468ABE}"/>
              </a:ext>
            </a:extLst>
          </p:cNvPr>
          <p:cNvCxnSpPr>
            <a:cxnSpLocks/>
          </p:cNvCxnSpPr>
          <p:nvPr/>
        </p:nvCxnSpPr>
        <p:spPr>
          <a:xfrm>
            <a:off x="5013653" y="3598999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Bogen 18">
            <a:extLst>
              <a:ext uri="{FF2B5EF4-FFF2-40B4-BE49-F238E27FC236}">
                <a16:creationId xmlns:a16="http://schemas.microsoft.com/office/drawing/2014/main" id="{51A5643D-135A-8FBC-D904-5FF332963D9F}"/>
              </a:ext>
            </a:extLst>
          </p:cNvPr>
          <p:cNvSpPr/>
          <p:nvPr/>
        </p:nvSpPr>
        <p:spPr>
          <a:xfrm>
            <a:off x="5149157" y="3369756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81727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0B0CAB-9A18-F366-B95A-FACC87152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23AA995-5511-552C-F3B6-E919A685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EA09E515-829F-05D2-5824-AB49D1F7D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From the </a:t>
            </a:r>
            <a:r>
              <a:rPr lang="en-US" sz="2400" noProof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Centeral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Limit Theorem (in statistics):</a:t>
            </a:r>
          </a:p>
          <a:p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Our estimated </a:t>
            </a:r>
            <a:r>
              <a:rPr lang="en-US" sz="2400" noProof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paremeters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are not just values, they are the mean of a normal distribution</a:t>
            </a:r>
          </a:p>
          <a:p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width of this </a:t>
            </a:r>
            <a:r>
              <a:rPr lang="en-US" sz="2400" noProof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ditribution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tells us about how certain we are about our estimates</a:t>
            </a: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590C9983-8439-433D-9BA2-EE11EE9A8C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2765579" y="3272883"/>
            <a:ext cx="725478" cy="2383691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A9AEF494-1CA2-8E61-BA29-14CC16FFEB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8040201" y="4362450"/>
            <a:ext cx="2780197" cy="1294123"/>
          </a:xfrm>
          <a:prstGeom prst="rect">
            <a:avLst/>
          </a:prstGeom>
        </p:spPr>
      </p:pic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4731F8C8-66F9-E915-1422-5B44B0EC1E57}"/>
              </a:ext>
            </a:extLst>
          </p:cNvPr>
          <p:cNvCxnSpPr>
            <a:cxnSpLocks/>
          </p:cNvCxnSpPr>
          <p:nvPr/>
        </p:nvCxnSpPr>
        <p:spPr>
          <a:xfrm flipV="1">
            <a:off x="7631799" y="2886075"/>
            <a:ext cx="0" cy="2889057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95FFEE7-A422-DF8B-471D-96C69ED1DB0D}"/>
              </a:ext>
            </a:extLst>
          </p:cNvPr>
          <p:cNvCxnSpPr>
            <a:cxnSpLocks/>
          </p:cNvCxnSpPr>
          <p:nvPr/>
        </p:nvCxnSpPr>
        <p:spPr>
          <a:xfrm>
            <a:off x="7631799" y="5775132"/>
            <a:ext cx="3428379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BE439F15-2C19-A37D-D7E2-061CC928B9E2}"/>
              </a:ext>
            </a:extLst>
          </p:cNvPr>
          <p:cNvCxnSpPr>
            <a:cxnSpLocks/>
          </p:cNvCxnSpPr>
          <p:nvPr/>
        </p:nvCxnSpPr>
        <p:spPr>
          <a:xfrm flipV="1">
            <a:off x="1562721" y="2865749"/>
            <a:ext cx="0" cy="2889057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F3B7115F-89EA-80DC-587C-C34917F81ABD}"/>
              </a:ext>
            </a:extLst>
          </p:cNvPr>
          <p:cNvCxnSpPr>
            <a:cxnSpLocks/>
          </p:cNvCxnSpPr>
          <p:nvPr/>
        </p:nvCxnSpPr>
        <p:spPr>
          <a:xfrm>
            <a:off x="1562721" y="5754806"/>
            <a:ext cx="3428379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9F3D011D-21F7-B737-B696-F0D5EB95DAA7}"/>
              </a:ext>
            </a:extLst>
          </p:cNvPr>
          <p:cNvCxnSpPr>
            <a:cxnSpLocks/>
          </p:cNvCxnSpPr>
          <p:nvPr/>
        </p:nvCxnSpPr>
        <p:spPr>
          <a:xfrm flipV="1">
            <a:off x="3124821" y="2941949"/>
            <a:ext cx="0" cy="2889057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7D035462-79E1-3543-3916-CB667AE0FB20}"/>
              </a:ext>
            </a:extLst>
          </p:cNvPr>
          <p:cNvCxnSpPr>
            <a:cxnSpLocks/>
          </p:cNvCxnSpPr>
          <p:nvPr/>
        </p:nvCxnSpPr>
        <p:spPr>
          <a:xfrm flipV="1">
            <a:off x="9439896" y="3762375"/>
            <a:ext cx="0" cy="2221031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25B30FF6-5C04-0B85-9DAD-2790B7564B2A}"/>
              </a:ext>
            </a:extLst>
          </p:cNvPr>
          <p:cNvSpPr txBox="1">
            <a:spLocks/>
          </p:cNvSpPr>
          <p:nvPr/>
        </p:nvSpPr>
        <p:spPr>
          <a:xfrm>
            <a:off x="2543284" y="2482210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Estimated 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Inhaltsplatzhalter 2">
            <a:extLst>
              <a:ext uri="{FF2B5EF4-FFF2-40B4-BE49-F238E27FC236}">
                <a16:creationId xmlns:a16="http://schemas.microsoft.com/office/drawing/2014/main" id="{CA949762-4652-3A04-BB6F-E536787E7C1E}"/>
              </a:ext>
            </a:extLst>
          </p:cNvPr>
          <p:cNvSpPr txBox="1">
            <a:spLocks/>
          </p:cNvSpPr>
          <p:nvPr/>
        </p:nvSpPr>
        <p:spPr>
          <a:xfrm>
            <a:off x="8858359" y="3272883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Estimated 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2" name="Inhaltsplatzhalter 2">
            <a:extLst>
              <a:ext uri="{FF2B5EF4-FFF2-40B4-BE49-F238E27FC236}">
                <a16:creationId xmlns:a16="http://schemas.microsoft.com/office/drawing/2014/main" id="{84C742E4-2539-E6F9-C87C-6FB96AD7D759}"/>
              </a:ext>
            </a:extLst>
          </p:cNvPr>
          <p:cNvSpPr txBox="1">
            <a:spLocks/>
          </p:cNvSpPr>
          <p:nvPr/>
        </p:nvSpPr>
        <p:spPr>
          <a:xfrm>
            <a:off x="2436455" y="6014304"/>
            <a:ext cx="1680909" cy="391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3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Certain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Inhaltsplatzhalter 2">
            <a:extLst>
              <a:ext uri="{FF2B5EF4-FFF2-40B4-BE49-F238E27FC236}">
                <a16:creationId xmlns:a16="http://schemas.microsoft.com/office/drawing/2014/main" id="{C5B2DEFD-594E-79D1-8E80-C2257A72E10A}"/>
              </a:ext>
            </a:extLst>
          </p:cNvPr>
          <p:cNvSpPr txBox="1">
            <a:spLocks/>
          </p:cNvSpPr>
          <p:nvPr/>
        </p:nvSpPr>
        <p:spPr>
          <a:xfrm>
            <a:off x="8599440" y="6014304"/>
            <a:ext cx="1680909" cy="391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3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Less Certain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63150AD5-C7D0-5F20-6F28-F9665273E20B}"/>
              </a:ext>
            </a:extLst>
          </p:cNvPr>
          <p:cNvSpPr txBox="1">
            <a:spLocks/>
          </p:cNvSpPr>
          <p:nvPr/>
        </p:nvSpPr>
        <p:spPr>
          <a:xfrm>
            <a:off x="4646487" y="5775132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 values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7" name="Inhaltsplatzhalter 2">
            <a:extLst>
              <a:ext uri="{FF2B5EF4-FFF2-40B4-BE49-F238E27FC236}">
                <a16:creationId xmlns:a16="http://schemas.microsoft.com/office/drawing/2014/main" id="{862F74AD-ED15-073C-DCFB-712DC19E8F89}"/>
              </a:ext>
            </a:extLst>
          </p:cNvPr>
          <p:cNvSpPr txBox="1">
            <a:spLocks/>
          </p:cNvSpPr>
          <p:nvPr/>
        </p:nvSpPr>
        <p:spPr>
          <a:xfrm>
            <a:off x="10646337" y="5831006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 values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45F79E68-64D3-8FE0-38EB-97B41E0EA6A9}"/>
              </a:ext>
            </a:extLst>
          </p:cNvPr>
          <p:cNvSpPr txBox="1">
            <a:spLocks/>
          </p:cNvSpPr>
          <p:nvPr/>
        </p:nvSpPr>
        <p:spPr>
          <a:xfrm>
            <a:off x="6238877" y="2815037"/>
            <a:ext cx="1361180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Frequency</a:t>
            </a:r>
            <a:b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(Density)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E49E853F-F2BE-EE5C-031A-3CAF6D9D4CF2}"/>
              </a:ext>
            </a:extLst>
          </p:cNvPr>
          <p:cNvSpPr txBox="1">
            <a:spLocks/>
          </p:cNvSpPr>
          <p:nvPr/>
        </p:nvSpPr>
        <p:spPr>
          <a:xfrm>
            <a:off x="341029" y="2613703"/>
            <a:ext cx="1361180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Frequency</a:t>
            </a:r>
            <a:b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(Density)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480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7636A-AA8D-CA02-6CC2-E0F8E0B8C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EE62A19-73DD-BAB1-33B5-43304D7DA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43DCD1EF-01D9-723F-B82A-D843E4B28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Maybe you heard of the term 95%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Confidence interval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before?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I take the sample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 different times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each time I estimate </a:t>
            </a:r>
            <a:r>
              <a:rPr lang="en-US" sz="24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Then the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true value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of </a:t>
            </a:r>
            <a:r>
              <a:rPr lang="en-US" sz="24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will be within my confidence interval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95% of the time</a:t>
            </a:r>
          </a:p>
          <a:p>
            <a:pPr marL="0" indent="0"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BD7E762C-D210-6B13-DB48-B4F40F2772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2756054" y="3662730"/>
            <a:ext cx="725478" cy="2383691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3395FA8F-B59B-0724-512B-9AC21EBDA8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8030676" y="4752297"/>
            <a:ext cx="2780197" cy="1294123"/>
          </a:xfrm>
          <a:prstGeom prst="rect">
            <a:avLst/>
          </a:prstGeom>
        </p:spPr>
      </p:pic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53DB9D3-D6EC-7D10-A1D2-C3671FBC0165}"/>
              </a:ext>
            </a:extLst>
          </p:cNvPr>
          <p:cNvCxnSpPr>
            <a:cxnSpLocks/>
          </p:cNvCxnSpPr>
          <p:nvPr/>
        </p:nvCxnSpPr>
        <p:spPr>
          <a:xfrm flipV="1">
            <a:off x="7622274" y="3275922"/>
            <a:ext cx="0" cy="2889057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5590F807-E2A1-6B15-983B-2F0818B9C377}"/>
              </a:ext>
            </a:extLst>
          </p:cNvPr>
          <p:cNvCxnSpPr>
            <a:cxnSpLocks/>
          </p:cNvCxnSpPr>
          <p:nvPr/>
        </p:nvCxnSpPr>
        <p:spPr>
          <a:xfrm>
            <a:off x="7622274" y="6164979"/>
            <a:ext cx="3428379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D0DB7E08-2B1F-3CDD-CD08-7B31AAAB9682}"/>
              </a:ext>
            </a:extLst>
          </p:cNvPr>
          <p:cNvCxnSpPr>
            <a:cxnSpLocks/>
          </p:cNvCxnSpPr>
          <p:nvPr/>
        </p:nvCxnSpPr>
        <p:spPr>
          <a:xfrm flipV="1">
            <a:off x="1553196" y="3255596"/>
            <a:ext cx="0" cy="2889057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80498C8E-2679-F42E-8CE4-9BC4E0BCF9D0}"/>
              </a:ext>
            </a:extLst>
          </p:cNvPr>
          <p:cNvCxnSpPr>
            <a:cxnSpLocks/>
          </p:cNvCxnSpPr>
          <p:nvPr/>
        </p:nvCxnSpPr>
        <p:spPr>
          <a:xfrm>
            <a:off x="1553196" y="6144653"/>
            <a:ext cx="3428379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DA89B2B3-EEF6-041F-871E-C8076A9022EC}"/>
              </a:ext>
            </a:extLst>
          </p:cNvPr>
          <p:cNvCxnSpPr>
            <a:cxnSpLocks/>
          </p:cNvCxnSpPr>
          <p:nvPr/>
        </p:nvCxnSpPr>
        <p:spPr>
          <a:xfrm flipV="1">
            <a:off x="3115296" y="3331796"/>
            <a:ext cx="0" cy="2889057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45676B80-DC7E-B7D7-E702-D09E2783C09C}"/>
              </a:ext>
            </a:extLst>
          </p:cNvPr>
          <p:cNvCxnSpPr>
            <a:cxnSpLocks/>
          </p:cNvCxnSpPr>
          <p:nvPr/>
        </p:nvCxnSpPr>
        <p:spPr>
          <a:xfrm flipV="1">
            <a:off x="9430371" y="4152222"/>
            <a:ext cx="0" cy="2221031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9C062FBD-7088-7B5B-D0C5-9AE1649B5221}"/>
              </a:ext>
            </a:extLst>
          </p:cNvPr>
          <p:cNvSpPr txBox="1">
            <a:spLocks/>
          </p:cNvSpPr>
          <p:nvPr/>
        </p:nvSpPr>
        <p:spPr>
          <a:xfrm>
            <a:off x="2533759" y="2872057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Estimated 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Inhaltsplatzhalter 2">
            <a:extLst>
              <a:ext uri="{FF2B5EF4-FFF2-40B4-BE49-F238E27FC236}">
                <a16:creationId xmlns:a16="http://schemas.microsoft.com/office/drawing/2014/main" id="{1B3AAB78-0D5C-9DAF-9FF6-660A481F1FCD}"/>
              </a:ext>
            </a:extLst>
          </p:cNvPr>
          <p:cNvSpPr txBox="1">
            <a:spLocks/>
          </p:cNvSpPr>
          <p:nvPr/>
        </p:nvSpPr>
        <p:spPr>
          <a:xfrm>
            <a:off x="8848834" y="3662730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Estimated 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2" name="Inhaltsplatzhalter 2">
            <a:extLst>
              <a:ext uri="{FF2B5EF4-FFF2-40B4-BE49-F238E27FC236}">
                <a16:creationId xmlns:a16="http://schemas.microsoft.com/office/drawing/2014/main" id="{01F504DE-020E-6731-0C90-CE086CF63479}"/>
              </a:ext>
            </a:extLst>
          </p:cNvPr>
          <p:cNvSpPr txBox="1">
            <a:spLocks/>
          </p:cNvSpPr>
          <p:nvPr/>
        </p:nvSpPr>
        <p:spPr>
          <a:xfrm>
            <a:off x="2426930" y="6404151"/>
            <a:ext cx="1680909" cy="391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3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Certain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Inhaltsplatzhalter 2">
            <a:extLst>
              <a:ext uri="{FF2B5EF4-FFF2-40B4-BE49-F238E27FC236}">
                <a16:creationId xmlns:a16="http://schemas.microsoft.com/office/drawing/2014/main" id="{601BF0BC-A1BD-BEAB-D7B1-8BA5914A000F}"/>
              </a:ext>
            </a:extLst>
          </p:cNvPr>
          <p:cNvSpPr txBox="1">
            <a:spLocks/>
          </p:cNvSpPr>
          <p:nvPr/>
        </p:nvSpPr>
        <p:spPr>
          <a:xfrm>
            <a:off x="8589915" y="6404151"/>
            <a:ext cx="1680909" cy="391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3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Less Certain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45958B9C-8D6A-CADF-F286-9E991451AD7D}"/>
              </a:ext>
            </a:extLst>
          </p:cNvPr>
          <p:cNvSpPr txBox="1">
            <a:spLocks/>
          </p:cNvSpPr>
          <p:nvPr/>
        </p:nvSpPr>
        <p:spPr>
          <a:xfrm>
            <a:off x="4636962" y="6164979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 values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7" name="Inhaltsplatzhalter 2">
            <a:extLst>
              <a:ext uri="{FF2B5EF4-FFF2-40B4-BE49-F238E27FC236}">
                <a16:creationId xmlns:a16="http://schemas.microsoft.com/office/drawing/2014/main" id="{D6D9CE2A-C573-B1F4-FDE6-B42D93D457C9}"/>
              </a:ext>
            </a:extLst>
          </p:cNvPr>
          <p:cNvSpPr txBox="1">
            <a:spLocks/>
          </p:cNvSpPr>
          <p:nvPr/>
        </p:nvSpPr>
        <p:spPr>
          <a:xfrm>
            <a:off x="10636812" y="6220853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 values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C1C6E35F-0140-2C6A-CBB7-97B93D20B6FA}"/>
              </a:ext>
            </a:extLst>
          </p:cNvPr>
          <p:cNvSpPr txBox="1">
            <a:spLocks/>
          </p:cNvSpPr>
          <p:nvPr/>
        </p:nvSpPr>
        <p:spPr>
          <a:xfrm>
            <a:off x="6229352" y="3204884"/>
            <a:ext cx="1361180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Frequency</a:t>
            </a:r>
            <a:b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(Density)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8AB4BD75-CE1A-583B-A543-3B6A4D37D92C}"/>
              </a:ext>
            </a:extLst>
          </p:cNvPr>
          <p:cNvSpPr txBox="1">
            <a:spLocks/>
          </p:cNvSpPr>
          <p:nvPr/>
        </p:nvSpPr>
        <p:spPr>
          <a:xfrm>
            <a:off x="331504" y="3003550"/>
            <a:ext cx="1361180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Frequency</a:t>
            </a:r>
            <a:b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(Density)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D8A97204-19B8-4E95-406D-A500313D63D1}"/>
              </a:ext>
            </a:extLst>
          </p:cNvPr>
          <p:cNvCxnSpPr>
            <a:cxnSpLocks/>
          </p:cNvCxnSpPr>
          <p:nvPr/>
        </p:nvCxnSpPr>
        <p:spPr>
          <a:xfrm flipV="1">
            <a:off x="2839071" y="3408230"/>
            <a:ext cx="0" cy="2889057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171E6A6E-68EA-316C-97BE-D78D1065263C}"/>
              </a:ext>
            </a:extLst>
          </p:cNvPr>
          <p:cNvCxnSpPr>
            <a:cxnSpLocks/>
          </p:cNvCxnSpPr>
          <p:nvPr/>
        </p:nvCxnSpPr>
        <p:spPr>
          <a:xfrm flipV="1">
            <a:off x="3362946" y="3408230"/>
            <a:ext cx="0" cy="2889057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BD66EFE-A15D-370C-E655-0DEDE41F8E25}"/>
              </a:ext>
            </a:extLst>
          </p:cNvPr>
          <p:cNvCxnSpPr>
            <a:cxnSpLocks/>
          </p:cNvCxnSpPr>
          <p:nvPr/>
        </p:nvCxnSpPr>
        <p:spPr>
          <a:xfrm flipV="1">
            <a:off x="8449296" y="3484196"/>
            <a:ext cx="0" cy="2889057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C587DE7C-945D-DDC6-EA6F-35EC28D38DDC}"/>
              </a:ext>
            </a:extLst>
          </p:cNvPr>
          <p:cNvCxnSpPr>
            <a:cxnSpLocks/>
          </p:cNvCxnSpPr>
          <p:nvPr/>
        </p:nvCxnSpPr>
        <p:spPr>
          <a:xfrm flipV="1">
            <a:off x="10430496" y="3515094"/>
            <a:ext cx="0" cy="2889057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323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34457-75E1-6E1B-E4A4-6A0519AA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90DC0F98-F157-1992-1257-4E2F3D36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100282B0-78EA-7CC0-387A-4ED3CA8D4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Sometimes it is simpler to plot the distribution of B as: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1) A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dot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for the mean value (estimated B)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2) A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horizontal line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representing the bounds of the 95% confidence interval</a:t>
            </a:r>
          </a:p>
          <a:p>
            <a:pPr marL="0" indent="0"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AC61767E-A061-F5AF-3D3E-0298A9430E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2674191" y="4683899"/>
            <a:ext cx="725478" cy="1034276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4A88A0A6-3212-C4E9-6581-EE4D8ED0B3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7948813" y="5182001"/>
            <a:ext cx="2780197" cy="536173"/>
          </a:xfrm>
          <a:prstGeom prst="rect">
            <a:avLst/>
          </a:prstGeom>
        </p:spPr>
      </p:pic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24A5BA31-15AD-C48E-0B3B-F4695B3556FA}"/>
              </a:ext>
            </a:extLst>
          </p:cNvPr>
          <p:cNvCxnSpPr>
            <a:cxnSpLocks/>
          </p:cNvCxnSpPr>
          <p:nvPr/>
        </p:nvCxnSpPr>
        <p:spPr>
          <a:xfrm flipH="1" flipV="1">
            <a:off x="7504137" y="3120924"/>
            <a:ext cx="36274" cy="2715809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09FC3DB-DE89-6144-7E10-89501E7131B4}"/>
              </a:ext>
            </a:extLst>
          </p:cNvPr>
          <p:cNvCxnSpPr>
            <a:cxnSpLocks/>
          </p:cNvCxnSpPr>
          <p:nvPr/>
        </p:nvCxnSpPr>
        <p:spPr>
          <a:xfrm>
            <a:off x="7540411" y="5836733"/>
            <a:ext cx="3428379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7FC1E4E-ACB4-BAF5-276C-F1D34A241851}"/>
              </a:ext>
            </a:extLst>
          </p:cNvPr>
          <p:cNvCxnSpPr>
            <a:cxnSpLocks/>
          </p:cNvCxnSpPr>
          <p:nvPr/>
        </p:nvCxnSpPr>
        <p:spPr>
          <a:xfrm flipH="1" flipV="1">
            <a:off x="1414805" y="3368431"/>
            <a:ext cx="56528" cy="244797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ED6F9099-D1E2-0463-8F9A-95C652E82AB3}"/>
              </a:ext>
            </a:extLst>
          </p:cNvPr>
          <p:cNvCxnSpPr>
            <a:cxnSpLocks/>
          </p:cNvCxnSpPr>
          <p:nvPr/>
        </p:nvCxnSpPr>
        <p:spPr>
          <a:xfrm>
            <a:off x="1471333" y="5816407"/>
            <a:ext cx="3428379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EE3DC17D-E1C8-3D23-9921-0892DA183600}"/>
              </a:ext>
            </a:extLst>
          </p:cNvPr>
          <p:cNvCxnSpPr>
            <a:cxnSpLocks/>
          </p:cNvCxnSpPr>
          <p:nvPr/>
        </p:nvCxnSpPr>
        <p:spPr>
          <a:xfrm flipV="1">
            <a:off x="3033433" y="4424051"/>
            <a:ext cx="0" cy="1468556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633D0368-CAF4-87BA-D78A-5D2EF33F3BED}"/>
              </a:ext>
            </a:extLst>
          </p:cNvPr>
          <p:cNvCxnSpPr>
            <a:cxnSpLocks/>
          </p:cNvCxnSpPr>
          <p:nvPr/>
        </p:nvCxnSpPr>
        <p:spPr>
          <a:xfrm flipV="1">
            <a:off x="9348508" y="4540739"/>
            <a:ext cx="0" cy="1504268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F00CCF1E-21F4-8E33-F884-FD8ABFC0221E}"/>
              </a:ext>
            </a:extLst>
          </p:cNvPr>
          <p:cNvSpPr txBox="1">
            <a:spLocks/>
          </p:cNvSpPr>
          <p:nvPr/>
        </p:nvSpPr>
        <p:spPr>
          <a:xfrm>
            <a:off x="4555099" y="5836733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 values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7" name="Inhaltsplatzhalter 2">
            <a:extLst>
              <a:ext uri="{FF2B5EF4-FFF2-40B4-BE49-F238E27FC236}">
                <a16:creationId xmlns:a16="http://schemas.microsoft.com/office/drawing/2014/main" id="{84912F0B-3B7A-A9AD-E086-CBD473D7DC45}"/>
              </a:ext>
            </a:extLst>
          </p:cNvPr>
          <p:cNvSpPr txBox="1">
            <a:spLocks/>
          </p:cNvSpPr>
          <p:nvPr/>
        </p:nvSpPr>
        <p:spPr>
          <a:xfrm>
            <a:off x="10554949" y="5892607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 values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E36864D5-3900-098B-FA3C-ECA433204DFE}"/>
              </a:ext>
            </a:extLst>
          </p:cNvPr>
          <p:cNvSpPr txBox="1">
            <a:spLocks/>
          </p:cNvSpPr>
          <p:nvPr/>
        </p:nvSpPr>
        <p:spPr>
          <a:xfrm>
            <a:off x="6179231" y="3040137"/>
            <a:ext cx="1361180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Frequency</a:t>
            </a:r>
            <a:b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(Density)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AF1B61D-7E1D-07C5-3775-03C168BAE1FE}"/>
              </a:ext>
            </a:extLst>
          </p:cNvPr>
          <p:cNvSpPr txBox="1">
            <a:spLocks/>
          </p:cNvSpPr>
          <p:nvPr/>
        </p:nvSpPr>
        <p:spPr>
          <a:xfrm>
            <a:off x="0" y="3351663"/>
            <a:ext cx="1361180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Frequency</a:t>
            </a:r>
            <a:b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(Density)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7D39D9F5-F520-72AB-CE45-594BB0B0F163}"/>
              </a:ext>
            </a:extLst>
          </p:cNvPr>
          <p:cNvCxnSpPr>
            <a:cxnSpLocks/>
          </p:cNvCxnSpPr>
          <p:nvPr/>
        </p:nvCxnSpPr>
        <p:spPr>
          <a:xfrm flipV="1">
            <a:off x="2757208" y="4540739"/>
            <a:ext cx="0" cy="1428302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C00BA7BA-A474-1996-ABC1-02635EB73959}"/>
              </a:ext>
            </a:extLst>
          </p:cNvPr>
          <p:cNvCxnSpPr>
            <a:cxnSpLocks/>
          </p:cNvCxnSpPr>
          <p:nvPr/>
        </p:nvCxnSpPr>
        <p:spPr>
          <a:xfrm flipV="1">
            <a:off x="3281083" y="4540739"/>
            <a:ext cx="0" cy="1428302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2CECB89-9620-D5D8-ABF7-377D6CF24CD1}"/>
              </a:ext>
            </a:extLst>
          </p:cNvPr>
          <p:cNvCxnSpPr>
            <a:cxnSpLocks/>
          </p:cNvCxnSpPr>
          <p:nvPr/>
        </p:nvCxnSpPr>
        <p:spPr>
          <a:xfrm flipV="1">
            <a:off x="8367433" y="4540739"/>
            <a:ext cx="0" cy="1504268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B489E8EF-F672-BBD5-3665-45D601A3B62F}"/>
              </a:ext>
            </a:extLst>
          </p:cNvPr>
          <p:cNvCxnSpPr>
            <a:cxnSpLocks/>
          </p:cNvCxnSpPr>
          <p:nvPr/>
        </p:nvCxnSpPr>
        <p:spPr>
          <a:xfrm flipV="1">
            <a:off x="10348633" y="4540739"/>
            <a:ext cx="0" cy="1535166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686B3122-90A1-A201-4715-FF18FA201E8F}"/>
              </a:ext>
            </a:extLst>
          </p:cNvPr>
          <p:cNvCxnSpPr>
            <a:cxnSpLocks/>
          </p:cNvCxnSpPr>
          <p:nvPr/>
        </p:nvCxnSpPr>
        <p:spPr>
          <a:xfrm>
            <a:off x="2732824" y="4057502"/>
            <a:ext cx="552340" cy="0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lipse 22">
            <a:extLst>
              <a:ext uri="{FF2B5EF4-FFF2-40B4-BE49-F238E27FC236}">
                <a16:creationId xmlns:a16="http://schemas.microsoft.com/office/drawing/2014/main" id="{4FECBBC4-1E2D-B5B9-B027-549960161031}"/>
              </a:ext>
            </a:extLst>
          </p:cNvPr>
          <p:cNvSpPr/>
          <p:nvPr/>
        </p:nvSpPr>
        <p:spPr>
          <a:xfrm>
            <a:off x="2939548" y="3993842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2B9E2D14-C98C-3A8F-4AF2-46EB38FE03AA}"/>
              </a:ext>
            </a:extLst>
          </p:cNvPr>
          <p:cNvSpPr txBox="1">
            <a:spLocks/>
          </p:cNvSpPr>
          <p:nvPr/>
        </p:nvSpPr>
        <p:spPr>
          <a:xfrm>
            <a:off x="2451896" y="3468347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Estimated B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D0E841C0-8A19-B3A8-91AA-140D98374CCA}"/>
              </a:ext>
            </a:extLst>
          </p:cNvPr>
          <p:cNvCxnSpPr>
            <a:cxnSpLocks/>
          </p:cNvCxnSpPr>
          <p:nvPr/>
        </p:nvCxnSpPr>
        <p:spPr>
          <a:xfrm>
            <a:off x="8294155" y="4046824"/>
            <a:ext cx="2054478" cy="0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16161865-4B54-B283-690C-5A01F65F835C}"/>
              </a:ext>
            </a:extLst>
          </p:cNvPr>
          <p:cNvSpPr/>
          <p:nvPr/>
        </p:nvSpPr>
        <p:spPr>
          <a:xfrm>
            <a:off x="9254623" y="3983164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CF125C19-6A54-BD82-0F1B-BC2846F90E90}"/>
              </a:ext>
            </a:extLst>
          </p:cNvPr>
          <p:cNvSpPr txBox="1">
            <a:spLocks/>
          </p:cNvSpPr>
          <p:nvPr/>
        </p:nvSpPr>
        <p:spPr>
          <a:xfrm>
            <a:off x="8765058" y="3464215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Estimated B</a:t>
            </a: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874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72076-2E4E-FC6E-3C25-82748FE3C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180C31D2-CF9A-BD8B-C70F-91EB2476A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8720EFD9-9257-8F99-6062-7AF2ED01E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the line of the 95% confidence interval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cuts the zero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Then the coefficient of B is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 statistically significant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other words, there is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 statistical difference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between B and zero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B098D9F9-9A0F-B8AD-D751-17C8A9CD7E47}"/>
              </a:ext>
            </a:extLst>
          </p:cNvPr>
          <p:cNvSpPr txBox="1">
            <a:spLocks/>
          </p:cNvSpPr>
          <p:nvPr/>
        </p:nvSpPr>
        <p:spPr>
          <a:xfrm>
            <a:off x="3424363" y="6271791"/>
            <a:ext cx="3977925" cy="410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9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Coefficient of 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9EAC5A3D-0D45-7A26-8DB5-4ED7144DEE70}"/>
              </a:ext>
            </a:extLst>
          </p:cNvPr>
          <p:cNvSpPr txBox="1">
            <a:spLocks/>
          </p:cNvSpPr>
          <p:nvPr/>
        </p:nvSpPr>
        <p:spPr>
          <a:xfrm>
            <a:off x="2389072" y="4774672"/>
            <a:ext cx="136118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Class 3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69DD7967-2EEA-26B9-FE28-DC2C494D107C}"/>
              </a:ext>
            </a:extLst>
          </p:cNvPr>
          <p:cNvCxnSpPr>
            <a:cxnSpLocks/>
          </p:cNvCxnSpPr>
          <p:nvPr/>
        </p:nvCxnSpPr>
        <p:spPr>
          <a:xfrm>
            <a:off x="4607418" y="4920550"/>
            <a:ext cx="552340" cy="0"/>
          </a:xfrm>
          <a:prstGeom prst="straightConnector1">
            <a:avLst/>
          </a:prstGeom>
          <a:ln w="19050" cap="rnd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lipse 22">
            <a:extLst>
              <a:ext uri="{FF2B5EF4-FFF2-40B4-BE49-F238E27FC236}">
                <a16:creationId xmlns:a16="http://schemas.microsoft.com/office/drawing/2014/main" id="{203A3A62-3C1E-EF48-5155-7A2E9FC3C3DE}"/>
              </a:ext>
            </a:extLst>
          </p:cNvPr>
          <p:cNvSpPr/>
          <p:nvPr/>
        </p:nvSpPr>
        <p:spPr>
          <a:xfrm>
            <a:off x="4827574" y="4856890"/>
            <a:ext cx="138892" cy="1273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F8633FDD-D2B4-BA1B-0AA3-0CA32CD5AAF4}"/>
              </a:ext>
            </a:extLst>
          </p:cNvPr>
          <p:cNvCxnSpPr>
            <a:cxnSpLocks/>
          </p:cNvCxnSpPr>
          <p:nvPr/>
        </p:nvCxnSpPr>
        <p:spPr>
          <a:xfrm>
            <a:off x="3800335" y="4199332"/>
            <a:ext cx="2054478" cy="0"/>
          </a:xfrm>
          <a:prstGeom prst="straightConnector1">
            <a:avLst/>
          </a:prstGeom>
          <a:ln w="19050" cap="rnd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4CA3BD25-64E1-BF46-5593-04C3256617D1}"/>
              </a:ext>
            </a:extLst>
          </p:cNvPr>
          <p:cNvSpPr/>
          <p:nvPr/>
        </p:nvSpPr>
        <p:spPr>
          <a:xfrm>
            <a:off x="4760803" y="4135672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1907C64E-79F0-7F23-8730-E2445F215D22}"/>
              </a:ext>
            </a:extLst>
          </p:cNvPr>
          <p:cNvCxnSpPr>
            <a:cxnSpLocks/>
          </p:cNvCxnSpPr>
          <p:nvPr/>
        </p:nvCxnSpPr>
        <p:spPr>
          <a:xfrm flipV="1">
            <a:off x="4109359" y="3657600"/>
            <a:ext cx="0" cy="2235007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60D66D2-D193-6707-B49C-58487CCF646B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BF0BFE19-4E86-78C9-EAEF-83B8BF072AFA}"/>
              </a:ext>
            </a:extLst>
          </p:cNvPr>
          <p:cNvSpPr txBox="1">
            <a:spLocks/>
          </p:cNvSpPr>
          <p:nvPr/>
        </p:nvSpPr>
        <p:spPr>
          <a:xfrm>
            <a:off x="5954793" y="6031533"/>
            <a:ext cx="465181" cy="2997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76085C0-2CF5-FF9E-D3BF-BB1541D65CE1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5C8C2CB-78CA-126B-E43A-170D882EDDF1}"/>
              </a:ext>
            </a:extLst>
          </p:cNvPr>
          <p:cNvSpPr txBox="1">
            <a:spLocks/>
          </p:cNvSpPr>
          <p:nvPr/>
        </p:nvSpPr>
        <p:spPr>
          <a:xfrm>
            <a:off x="4580555" y="5974249"/>
            <a:ext cx="579203" cy="341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29CABE98-D0EC-89F5-6F0C-B11562B1B0B3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665DF038-8D6A-9720-8BB8-15342CB80C3A}"/>
              </a:ext>
            </a:extLst>
          </p:cNvPr>
          <p:cNvSpPr txBox="1">
            <a:spLocks/>
          </p:cNvSpPr>
          <p:nvPr/>
        </p:nvSpPr>
        <p:spPr>
          <a:xfrm>
            <a:off x="3078440" y="6058613"/>
            <a:ext cx="508546" cy="31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-10</a:t>
            </a: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CBC5029B-286B-C19A-BD21-7F1AF0B18183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B3A3F7C-58DD-247A-0D0C-74B13C3E03E1}"/>
              </a:ext>
            </a:extLst>
          </p:cNvPr>
          <p:cNvSpPr txBox="1">
            <a:spLocks/>
          </p:cNvSpPr>
          <p:nvPr/>
        </p:nvSpPr>
        <p:spPr>
          <a:xfrm>
            <a:off x="2362859" y="4093319"/>
            <a:ext cx="136118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Class 4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DB2A6196-9D80-EDC9-D3C7-944446B8D0D7}"/>
              </a:ext>
            </a:extLst>
          </p:cNvPr>
          <p:cNvSpPr txBox="1">
            <a:spLocks/>
          </p:cNvSpPr>
          <p:nvPr/>
        </p:nvSpPr>
        <p:spPr>
          <a:xfrm>
            <a:off x="6092288" y="4677328"/>
            <a:ext cx="4676171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Statistically significant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(p-value &lt; 0.05) 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078CA39-E843-302C-060D-C8FA229A501D}"/>
              </a:ext>
            </a:extLst>
          </p:cNvPr>
          <p:cNvSpPr txBox="1">
            <a:spLocks/>
          </p:cNvSpPr>
          <p:nvPr/>
        </p:nvSpPr>
        <p:spPr>
          <a:xfrm>
            <a:off x="5995253" y="3987348"/>
            <a:ext cx="518282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Statistically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</a:t>
            </a: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significant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(p-value &gt; 0.05)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663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12DC1-7D33-FF24-632B-1AF63A4A2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EFD44D1B-5663-65FA-65AB-A164DDBB1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51B1E418-FE90-CE39-0EAE-6B5BE3E19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the line of the 95% confidence interval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cuts the zero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Then the coefficient of B is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 statistically significant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other words, there is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 statistical difference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between B and zero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P-value: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probability of observing this confidence interval if your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true B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was zero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D175ED45-E8C6-3219-4CA4-EB328467BC0F}"/>
              </a:ext>
            </a:extLst>
          </p:cNvPr>
          <p:cNvSpPr txBox="1">
            <a:spLocks/>
          </p:cNvSpPr>
          <p:nvPr/>
        </p:nvSpPr>
        <p:spPr>
          <a:xfrm>
            <a:off x="3424363" y="6271791"/>
            <a:ext cx="3977925" cy="410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9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Coefficient of 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682A46FE-A016-3B90-AC52-C12541BEA818}"/>
              </a:ext>
            </a:extLst>
          </p:cNvPr>
          <p:cNvSpPr txBox="1">
            <a:spLocks/>
          </p:cNvSpPr>
          <p:nvPr/>
        </p:nvSpPr>
        <p:spPr>
          <a:xfrm>
            <a:off x="2389072" y="4774672"/>
            <a:ext cx="136118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Class 3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A505AE3E-182E-A74A-B713-DA45A7FC8DBC}"/>
              </a:ext>
            </a:extLst>
          </p:cNvPr>
          <p:cNvCxnSpPr>
            <a:cxnSpLocks/>
          </p:cNvCxnSpPr>
          <p:nvPr/>
        </p:nvCxnSpPr>
        <p:spPr>
          <a:xfrm>
            <a:off x="4607418" y="4920550"/>
            <a:ext cx="552340" cy="0"/>
          </a:xfrm>
          <a:prstGeom prst="straightConnector1">
            <a:avLst/>
          </a:prstGeom>
          <a:ln w="19050" cap="rnd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lipse 22">
            <a:extLst>
              <a:ext uri="{FF2B5EF4-FFF2-40B4-BE49-F238E27FC236}">
                <a16:creationId xmlns:a16="http://schemas.microsoft.com/office/drawing/2014/main" id="{EA79E760-3DCD-8D99-8F46-9A4FA44E0AFD}"/>
              </a:ext>
            </a:extLst>
          </p:cNvPr>
          <p:cNvSpPr/>
          <p:nvPr/>
        </p:nvSpPr>
        <p:spPr>
          <a:xfrm>
            <a:off x="4827574" y="4856890"/>
            <a:ext cx="138892" cy="1273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98CBBDA7-C6AB-C0B3-60E6-D2FED49BBF02}"/>
              </a:ext>
            </a:extLst>
          </p:cNvPr>
          <p:cNvCxnSpPr>
            <a:cxnSpLocks/>
          </p:cNvCxnSpPr>
          <p:nvPr/>
        </p:nvCxnSpPr>
        <p:spPr>
          <a:xfrm>
            <a:off x="3800335" y="4199332"/>
            <a:ext cx="2054478" cy="0"/>
          </a:xfrm>
          <a:prstGeom prst="straightConnector1">
            <a:avLst/>
          </a:prstGeom>
          <a:ln w="19050" cap="rnd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449FEB65-3D19-EFE0-DB45-2980068E3DF3}"/>
              </a:ext>
            </a:extLst>
          </p:cNvPr>
          <p:cNvSpPr/>
          <p:nvPr/>
        </p:nvSpPr>
        <p:spPr>
          <a:xfrm>
            <a:off x="4760803" y="4135672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C8D98A4A-6050-FA64-857D-4113E5D0505F}"/>
              </a:ext>
            </a:extLst>
          </p:cNvPr>
          <p:cNvCxnSpPr>
            <a:cxnSpLocks/>
          </p:cNvCxnSpPr>
          <p:nvPr/>
        </p:nvCxnSpPr>
        <p:spPr>
          <a:xfrm flipV="1">
            <a:off x="4109359" y="3657600"/>
            <a:ext cx="0" cy="2235007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C12996B-F9D2-CF05-D7B3-1BDA71F4E06F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39759830-0854-79CA-2BB6-FE649D5E7F3E}"/>
              </a:ext>
            </a:extLst>
          </p:cNvPr>
          <p:cNvSpPr txBox="1">
            <a:spLocks/>
          </p:cNvSpPr>
          <p:nvPr/>
        </p:nvSpPr>
        <p:spPr>
          <a:xfrm>
            <a:off x="5954793" y="6031533"/>
            <a:ext cx="465181" cy="2997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CF5E911-4045-15EF-A2D6-C1FFF1E28805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53527EDB-771B-5DF7-BFB0-23038D16575E}"/>
              </a:ext>
            </a:extLst>
          </p:cNvPr>
          <p:cNvSpPr txBox="1">
            <a:spLocks/>
          </p:cNvSpPr>
          <p:nvPr/>
        </p:nvSpPr>
        <p:spPr>
          <a:xfrm>
            <a:off x="4580555" y="5974249"/>
            <a:ext cx="579203" cy="341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6F9AACDB-062A-9D74-1F49-3C04443AD756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F5C29544-BC33-2D9D-1AB2-A1227D4C6B31}"/>
              </a:ext>
            </a:extLst>
          </p:cNvPr>
          <p:cNvSpPr txBox="1">
            <a:spLocks/>
          </p:cNvSpPr>
          <p:nvPr/>
        </p:nvSpPr>
        <p:spPr>
          <a:xfrm>
            <a:off x="3078440" y="6058613"/>
            <a:ext cx="508546" cy="31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-10</a:t>
            </a: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DA5CB729-A4F0-35E8-9C45-218AD6ACB326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F0B0849-DC59-56C1-25E9-3299F544DC80}"/>
              </a:ext>
            </a:extLst>
          </p:cNvPr>
          <p:cNvSpPr txBox="1">
            <a:spLocks/>
          </p:cNvSpPr>
          <p:nvPr/>
        </p:nvSpPr>
        <p:spPr>
          <a:xfrm>
            <a:off x="2362859" y="4093319"/>
            <a:ext cx="136118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Class 4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B9779259-B47C-FEA6-87CD-2CFAC721CD22}"/>
              </a:ext>
            </a:extLst>
          </p:cNvPr>
          <p:cNvSpPr txBox="1">
            <a:spLocks/>
          </p:cNvSpPr>
          <p:nvPr/>
        </p:nvSpPr>
        <p:spPr>
          <a:xfrm>
            <a:off x="6092288" y="4677328"/>
            <a:ext cx="4676171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Statistically significant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(p-value &lt; 0.05) 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8D064456-E9F0-27F6-B444-F1D4492AC7F4}"/>
              </a:ext>
            </a:extLst>
          </p:cNvPr>
          <p:cNvSpPr txBox="1">
            <a:spLocks/>
          </p:cNvSpPr>
          <p:nvPr/>
        </p:nvSpPr>
        <p:spPr>
          <a:xfrm>
            <a:off x="5995253" y="3987348"/>
            <a:ext cx="518282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Statistically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</a:t>
            </a: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significant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(p-value &gt; 0.05)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537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52A06-6A94-DDA1-3662-1EA3520B1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A0ECEABC-3107-A8EC-54F1-D4AFA293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53D248D2-2994-6F81-B106-D58158B6E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the line of the 95% confidence interval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cuts the zero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Then the coefficient of B is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 statistically significant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other words, there is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 statistical difference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between B and zero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P-value: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probability of observing this confidence interval if your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true B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was zero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>
                <a:highlight>
                  <a:srgbClr val="C0C0C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Take home message</a:t>
            </a:r>
            <a:r>
              <a:rPr lang="en-US" sz="2400" dirty="0">
                <a:highlight>
                  <a:srgbClr val="C0C0C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: Always report the </a:t>
            </a:r>
            <a:r>
              <a:rPr lang="en-US" sz="2400" b="1" dirty="0" err="1">
                <a:highlight>
                  <a:srgbClr val="C0C0C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uncertainity</a:t>
            </a:r>
            <a:r>
              <a:rPr lang="en-US" sz="2400" dirty="0">
                <a:highlight>
                  <a:srgbClr val="C0C0C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 of your estimates!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0714F782-951F-3AE4-D373-82D607966E1E}"/>
              </a:ext>
            </a:extLst>
          </p:cNvPr>
          <p:cNvSpPr txBox="1">
            <a:spLocks/>
          </p:cNvSpPr>
          <p:nvPr/>
        </p:nvSpPr>
        <p:spPr>
          <a:xfrm>
            <a:off x="3424363" y="6271791"/>
            <a:ext cx="3977925" cy="410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9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Coefficient of 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5C40DF17-82AA-5EB1-FD4A-6D48FC113703}"/>
              </a:ext>
            </a:extLst>
          </p:cNvPr>
          <p:cNvSpPr txBox="1">
            <a:spLocks/>
          </p:cNvSpPr>
          <p:nvPr/>
        </p:nvSpPr>
        <p:spPr>
          <a:xfrm>
            <a:off x="2389072" y="4774672"/>
            <a:ext cx="136118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Class 3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C63FAA90-A7D8-4540-7A2F-9D81CA9C2FD9}"/>
              </a:ext>
            </a:extLst>
          </p:cNvPr>
          <p:cNvCxnSpPr>
            <a:cxnSpLocks/>
          </p:cNvCxnSpPr>
          <p:nvPr/>
        </p:nvCxnSpPr>
        <p:spPr>
          <a:xfrm>
            <a:off x="4607418" y="4920550"/>
            <a:ext cx="552340" cy="0"/>
          </a:xfrm>
          <a:prstGeom prst="straightConnector1">
            <a:avLst/>
          </a:prstGeom>
          <a:ln w="19050" cap="rnd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lipse 22">
            <a:extLst>
              <a:ext uri="{FF2B5EF4-FFF2-40B4-BE49-F238E27FC236}">
                <a16:creationId xmlns:a16="http://schemas.microsoft.com/office/drawing/2014/main" id="{734C21EC-D867-FBB8-DAEB-2F3F48FA6786}"/>
              </a:ext>
            </a:extLst>
          </p:cNvPr>
          <p:cNvSpPr/>
          <p:nvPr/>
        </p:nvSpPr>
        <p:spPr>
          <a:xfrm>
            <a:off x="4827574" y="4856890"/>
            <a:ext cx="138892" cy="1273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5BCA3C00-8964-7417-E26D-B55EA3D74848}"/>
              </a:ext>
            </a:extLst>
          </p:cNvPr>
          <p:cNvCxnSpPr>
            <a:cxnSpLocks/>
          </p:cNvCxnSpPr>
          <p:nvPr/>
        </p:nvCxnSpPr>
        <p:spPr>
          <a:xfrm>
            <a:off x="3800335" y="4199332"/>
            <a:ext cx="2054478" cy="0"/>
          </a:xfrm>
          <a:prstGeom prst="straightConnector1">
            <a:avLst/>
          </a:prstGeom>
          <a:ln w="19050" cap="rnd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75EC2199-1D74-6DD7-8992-848C5D3FECED}"/>
              </a:ext>
            </a:extLst>
          </p:cNvPr>
          <p:cNvSpPr/>
          <p:nvPr/>
        </p:nvSpPr>
        <p:spPr>
          <a:xfrm>
            <a:off x="4760803" y="4135672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70FB62B3-404F-0109-D967-026EF8EF5DF4}"/>
              </a:ext>
            </a:extLst>
          </p:cNvPr>
          <p:cNvCxnSpPr>
            <a:cxnSpLocks/>
          </p:cNvCxnSpPr>
          <p:nvPr/>
        </p:nvCxnSpPr>
        <p:spPr>
          <a:xfrm flipV="1">
            <a:off x="4109359" y="3657600"/>
            <a:ext cx="0" cy="2235007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328DD83-AD87-2B27-37ED-6E082E495371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88CDC557-0ABB-2009-11B1-093224FF8A59}"/>
              </a:ext>
            </a:extLst>
          </p:cNvPr>
          <p:cNvSpPr txBox="1">
            <a:spLocks/>
          </p:cNvSpPr>
          <p:nvPr/>
        </p:nvSpPr>
        <p:spPr>
          <a:xfrm>
            <a:off x="5954793" y="6031533"/>
            <a:ext cx="465181" cy="2997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27339B88-1A71-08D3-FE36-74E7B309E853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4ADB8D22-20C2-0B5D-4279-7709A5914E69}"/>
              </a:ext>
            </a:extLst>
          </p:cNvPr>
          <p:cNvSpPr txBox="1">
            <a:spLocks/>
          </p:cNvSpPr>
          <p:nvPr/>
        </p:nvSpPr>
        <p:spPr>
          <a:xfrm>
            <a:off x="4580555" y="5974249"/>
            <a:ext cx="579203" cy="341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D9DC4598-C5B5-735B-A5FB-334BC82FFD5A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136B700-937C-61ED-C61B-7A4C41B5ABFF}"/>
              </a:ext>
            </a:extLst>
          </p:cNvPr>
          <p:cNvSpPr txBox="1">
            <a:spLocks/>
          </p:cNvSpPr>
          <p:nvPr/>
        </p:nvSpPr>
        <p:spPr>
          <a:xfrm>
            <a:off x="3078440" y="6058613"/>
            <a:ext cx="508546" cy="31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-10</a:t>
            </a: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51C4DB9-D92D-D859-8735-8775815C3416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06E050A-7669-D19D-9C51-906E345275BE}"/>
              </a:ext>
            </a:extLst>
          </p:cNvPr>
          <p:cNvSpPr txBox="1">
            <a:spLocks/>
          </p:cNvSpPr>
          <p:nvPr/>
        </p:nvSpPr>
        <p:spPr>
          <a:xfrm>
            <a:off x="2362859" y="4093319"/>
            <a:ext cx="136118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Class 4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31CD41C9-12C5-34D8-7A49-947F547B5AA9}"/>
              </a:ext>
            </a:extLst>
          </p:cNvPr>
          <p:cNvSpPr txBox="1">
            <a:spLocks/>
          </p:cNvSpPr>
          <p:nvPr/>
        </p:nvSpPr>
        <p:spPr>
          <a:xfrm>
            <a:off x="6092288" y="4677328"/>
            <a:ext cx="4676171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Statistically significant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(p-value &lt; 0.05) 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EDB6331-874A-0089-D269-B073C9D7E44A}"/>
              </a:ext>
            </a:extLst>
          </p:cNvPr>
          <p:cNvSpPr txBox="1">
            <a:spLocks/>
          </p:cNvSpPr>
          <p:nvPr/>
        </p:nvSpPr>
        <p:spPr>
          <a:xfrm>
            <a:off x="5995253" y="3987348"/>
            <a:ext cx="518282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Statistically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</a:t>
            </a: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significant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(p-value &gt; 0.05)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075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3EB0C-C75E-8332-1683-170C9CE75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C49ACFC-28A6-B031-56CB-2ADA3BD5C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C614F3FA-4863-6E10-119F-1E4DE1156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world is actually more </a:t>
            </a:r>
            <a:r>
              <a:rPr lang="en-US" sz="2400" noProof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compelx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than just 2 dimensions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6AD2B05-E4FE-803E-4F19-816EF16B5D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03"/>
          <a:stretch>
            <a:fillRect/>
          </a:stretch>
        </p:blipFill>
        <p:spPr>
          <a:xfrm>
            <a:off x="436050" y="1903445"/>
            <a:ext cx="6127444" cy="480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68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59BBB-3142-0AEE-828E-1424E836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EE48480-5EBA-FC75-EAEB-EA62C962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784C43A1-2246-7C5C-E5DF-9E373CD1A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world is actually more complex than just 2 dimensions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5C97C70-9AF1-23E5-6AF6-56E0244B1B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03"/>
          <a:stretch>
            <a:fillRect/>
          </a:stretch>
        </p:blipFill>
        <p:spPr>
          <a:xfrm>
            <a:off x="436050" y="1903445"/>
            <a:ext cx="6127444" cy="4808056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AC63AE94-C1D6-4856-C5BB-3C0CAC91D1C8}"/>
              </a:ext>
            </a:extLst>
          </p:cNvPr>
          <p:cNvSpPr/>
          <p:nvPr/>
        </p:nvSpPr>
        <p:spPr>
          <a:xfrm>
            <a:off x="6997959" y="3449170"/>
            <a:ext cx="1770903" cy="1628076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Consuming Chocolate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1927BFB4-11D6-B5AA-4CB1-BA7E089D2B01}"/>
              </a:ext>
            </a:extLst>
          </p:cNvPr>
          <p:cNvCxnSpPr>
            <a:cxnSpLocks/>
          </p:cNvCxnSpPr>
          <p:nvPr/>
        </p:nvCxnSpPr>
        <p:spPr>
          <a:xfrm>
            <a:off x="8877302" y="4321794"/>
            <a:ext cx="1097122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FE8070F4-C1B5-9D72-B962-271F3462200F}"/>
              </a:ext>
            </a:extLst>
          </p:cNvPr>
          <p:cNvSpPr/>
          <p:nvPr/>
        </p:nvSpPr>
        <p:spPr>
          <a:xfrm>
            <a:off x="10205675" y="3429000"/>
            <a:ext cx="1670180" cy="164824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Nobel prizes</a:t>
            </a:r>
          </a:p>
        </p:txBody>
      </p:sp>
    </p:spTree>
    <p:extLst>
      <p:ext uri="{BB962C8B-B14F-4D97-AF65-F5344CB8AC3E}">
        <p14:creationId xmlns:p14="http://schemas.microsoft.com/office/powerpoint/2010/main" val="38963470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C22B9-F4E3-5970-FF06-D992AFE4D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29A8264B-3DAA-B027-2FDF-5A9A77C5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01D28ADB-961B-F9DE-4DFE-C34A85375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world is actually more complex than just 2 dimensions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50E28E7-79C0-B9A8-A3AA-F1DA7BA9E2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03"/>
          <a:stretch>
            <a:fillRect/>
          </a:stretch>
        </p:blipFill>
        <p:spPr>
          <a:xfrm>
            <a:off x="436050" y="1903445"/>
            <a:ext cx="6127444" cy="4808056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B9542222-CD96-6F3A-0F39-700B5BDC529D}"/>
              </a:ext>
            </a:extLst>
          </p:cNvPr>
          <p:cNvSpPr/>
          <p:nvPr/>
        </p:nvSpPr>
        <p:spPr>
          <a:xfrm>
            <a:off x="6997959" y="3449170"/>
            <a:ext cx="1770903" cy="1628076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Consuming Chocolate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19EFBEE-A597-6A83-4D2F-389D708B520A}"/>
              </a:ext>
            </a:extLst>
          </p:cNvPr>
          <p:cNvCxnSpPr>
            <a:cxnSpLocks/>
          </p:cNvCxnSpPr>
          <p:nvPr/>
        </p:nvCxnSpPr>
        <p:spPr>
          <a:xfrm>
            <a:off x="8933286" y="4321794"/>
            <a:ext cx="1097122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50F82CA4-E382-67D4-000E-D1070AFABDEC}"/>
              </a:ext>
            </a:extLst>
          </p:cNvPr>
          <p:cNvSpPr/>
          <p:nvPr/>
        </p:nvSpPr>
        <p:spPr>
          <a:xfrm>
            <a:off x="10205675" y="3429000"/>
            <a:ext cx="1670180" cy="164824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Nobel prizes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7EB095C-77CE-F0AE-A9EF-ADD0FE6BB207}"/>
              </a:ext>
            </a:extLst>
          </p:cNvPr>
          <p:cNvSpPr/>
          <p:nvPr/>
        </p:nvSpPr>
        <p:spPr>
          <a:xfrm>
            <a:off x="8537440" y="1221247"/>
            <a:ext cx="1670180" cy="164824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National</a:t>
            </a:r>
            <a:br>
              <a:rPr lang="en-US" sz="1600" b="1" noProof="0" dirty="0"/>
            </a:br>
            <a:r>
              <a:rPr lang="en-US" sz="1600" b="1" noProof="0" dirty="0"/>
              <a:t>(historical)</a:t>
            </a:r>
            <a:br>
              <a:rPr lang="en-US" sz="1600" b="1" noProof="0" dirty="0"/>
            </a:br>
            <a:r>
              <a:rPr lang="en-US" sz="1600" b="1" noProof="0" dirty="0"/>
              <a:t>Wealth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8ADB790A-BDF5-571D-DF68-6F309100BA5F}"/>
              </a:ext>
            </a:extLst>
          </p:cNvPr>
          <p:cNvCxnSpPr>
            <a:cxnSpLocks/>
          </p:cNvCxnSpPr>
          <p:nvPr/>
        </p:nvCxnSpPr>
        <p:spPr>
          <a:xfrm flipH="1">
            <a:off x="7883410" y="2444620"/>
            <a:ext cx="654030" cy="96421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81E5A93-5774-1ED0-975C-81B509A65CFF}"/>
              </a:ext>
            </a:extLst>
          </p:cNvPr>
          <p:cNvCxnSpPr>
            <a:cxnSpLocks/>
          </p:cNvCxnSpPr>
          <p:nvPr/>
        </p:nvCxnSpPr>
        <p:spPr>
          <a:xfrm>
            <a:off x="10205675" y="2444620"/>
            <a:ext cx="822862" cy="947473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306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0B927-6ACB-1666-AC64-FB55FE51B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F5CE014E-DF2C-CC12-BB51-BD42AD9B7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0D821531-1F30-218A-DBEC-E0A069E05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world is actually more complex than just 2 dimensions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85D4D85-FC5E-4FA7-96D1-54EBED99B3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03"/>
          <a:stretch>
            <a:fillRect/>
          </a:stretch>
        </p:blipFill>
        <p:spPr>
          <a:xfrm>
            <a:off x="436050" y="1903445"/>
            <a:ext cx="6127444" cy="4808056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D0472308-79FC-75A7-1513-7668E3F1226C}"/>
              </a:ext>
            </a:extLst>
          </p:cNvPr>
          <p:cNvSpPr/>
          <p:nvPr/>
        </p:nvSpPr>
        <p:spPr>
          <a:xfrm>
            <a:off x="6997959" y="3449170"/>
            <a:ext cx="1770903" cy="1628076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Consuming Chocolate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7B0D853A-9F0E-BE30-D853-7F0007332BE2}"/>
              </a:ext>
            </a:extLst>
          </p:cNvPr>
          <p:cNvCxnSpPr>
            <a:cxnSpLocks/>
          </p:cNvCxnSpPr>
          <p:nvPr/>
        </p:nvCxnSpPr>
        <p:spPr>
          <a:xfrm>
            <a:off x="8933286" y="4321794"/>
            <a:ext cx="1097122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0F7F04C0-A5EA-B0F0-111E-B2DF68548201}"/>
              </a:ext>
            </a:extLst>
          </p:cNvPr>
          <p:cNvSpPr/>
          <p:nvPr/>
        </p:nvSpPr>
        <p:spPr>
          <a:xfrm>
            <a:off x="10205675" y="3429000"/>
            <a:ext cx="1670180" cy="164824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Nobel prizes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2354623-6206-0FBC-044F-4906EFAABC7F}"/>
              </a:ext>
            </a:extLst>
          </p:cNvPr>
          <p:cNvSpPr/>
          <p:nvPr/>
        </p:nvSpPr>
        <p:spPr>
          <a:xfrm>
            <a:off x="8537440" y="1221247"/>
            <a:ext cx="1670180" cy="164824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National</a:t>
            </a:r>
            <a:br>
              <a:rPr lang="en-US" sz="1600" b="1" noProof="0" dirty="0"/>
            </a:br>
            <a:r>
              <a:rPr lang="en-US" sz="1600" b="1" noProof="0" dirty="0"/>
              <a:t>(historical)</a:t>
            </a:r>
            <a:br>
              <a:rPr lang="en-US" sz="1600" b="1" noProof="0" dirty="0"/>
            </a:br>
            <a:r>
              <a:rPr lang="en-US" sz="1600" b="1" noProof="0" dirty="0"/>
              <a:t>Wealth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EDA0624D-5CF5-14C9-AE07-92FB767569BD}"/>
              </a:ext>
            </a:extLst>
          </p:cNvPr>
          <p:cNvCxnSpPr>
            <a:cxnSpLocks/>
          </p:cNvCxnSpPr>
          <p:nvPr/>
        </p:nvCxnSpPr>
        <p:spPr>
          <a:xfrm flipH="1">
            <a:off x="7883410" y="2444620"/>
            <a:ext cx="654030" cy="96421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E7893D6-82B7-B558-F477-5C7CD07E6D9C}"/>
              </a:ext>
            </a:extLst>
          </p:cNvPr>
          <p:cNvCxnSpPr>
            <a:cxnSpLocks/>
          </p:cNvCxnSpPr>
          <p:nvPr/>
        </p:nvCxnSpPr>
        <p:spPr>
          <a:xfrm>
            <a:off x="10205675" y="2444620"/>
            <a:ext cx="822862" cy="947473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8E8891-5A2B-B27C-8B58-D3A47681740B}"/>
              </a:ext>
            </a:extLst>
          </p:cNvPr>
          <p:cNvSpPr txBox="1">
            <a:spLocks/>
          </p:cNvSpPr>
          <p:nvPr/>
        </p:nvSpPr>
        <p:spPr>
          <a:xfrm>
            <a:off x="6512160" y="1903445"/>
            <a:ext cx="1770903" cy="14677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consumption of luxury goods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Afford to establish high quality chocolate industry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6F7C569-E433-42F5-45B3-BB7C56125D70}"/>
              </a:ext>
            </a:extLst>
          </p:cNvPr>
          <p:cNvSpPr txBox="1">
            <a:spLocks/>
          </p:cNvSpPr>
          <p:nvPr/>
        </p:nvSpPr>
        <p:spPr>
          <a:xfrm>
            <a:off x="10372503" y="1692304"/>
            <a:ext cx="1770903" cy="1467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resources for research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Historically establish research institutes</a:t>
            </a:r>
          </a:p>
        </p:txBody>
      </p:sp>
    </p:spTree>
    <p:extLst>
      <p:ext uri="{BB962C8B-B14F-4D97-AF65-F5344CB8AC3E}">
        <p14:creationId xmlns:p14="http://schemas.microsoft.com/office/powerpoint/2010/main" val="2962648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19F6EE-264C-33BD-81C9-970B41DCC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D6FCCB92-D3A1-7E1B-EB86-DB53FA97D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5842335-CE90-486D-85D4-FB1FCE920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world is actually more complex than just 2 dimensions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Correlation does not imply causation!!</a:t>
            </a: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20DCB61-E7F9-3923-F60A-3E2C782CD9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03"/>
          <a:stretch>
            <a:fillRect/>
          </a:stretch>
        </p:blipFill>
        <p:spPr>
          <a:xfrm>
            <a:off x="436050" y="1903445"/>
            <a:ext cx="6127444" cy="4808056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34801373-1F84-C963-27F3-AF2797A6FEEF}"/>
              </a:ext>
            </a:extLst>
          </p:cNvPr>
          <p:cNvSpPr/>
          <p:nvPr/>
        </p:nvSpPr>
        <p:spPr>
          <a:xfrm>
            <a:off x="6997959" y="3449170"/>
            <a:ext cx="1770903" cy="1628076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Consuming Chocolate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966630EB-5A6E-009E-BD66-5D09993DA657}"/>
              </a:ext>
            </a:extLst>
          </p:cNvPr>
          <p:cNvCxnSpPr>
            <a:cxnSpLocks/>
          </p:cNvCxnSpPr>
          <p:nvPr/>
        </p:nvCxnSpPr>
        <p:spPr>
          <a:xfrm>
            <a:off x="8933286" y="4321794"/>
            <a:ext cx="1097122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56B52C2D-FF1D-8A74-1EAA-769FCC64E526}"/>
              </a:ext>
            </a:extLst>
          </p:cNvPr>
          <p:cNvSpPr/>
          <p:nvPr/>
        </p:nvSpPr>
        <p:spPr>
          <a:xfrm>
            <a:off x="10205675" y="3429000"/>
            <a:ext cx="1670180" cy="164824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Nobel prizes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3B8ABC8-8BCA-0D51-690A-77D2A910CDEE}"/>
              </a:ext>
            </a:extLst>
          </p:cNvPr>
          <p:cNvSpPr/>
          <p:nvPr/>
        </p:nvSpPr>
        <p:spPr>
          <a:xfrm>
            <a:off x="8537440" y="1221247"/>
            <a:ext cx="1670180" cy="164824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National</a:t>
            </a:r>
            <a:br>
              <a:rPr lang="en-US" sz="1600" b="1" noProof="0" dirty="0"/>
            </a:br>
            <a:r>
              <a:rPr lang="en-US" sz="1600" b="1" noProof="0" dirty="0"/>
              <a:t>(historical)</a:t>
            </a:r>
            <a:br>
              <a:rPr lang="en-US" sz="1600" b="1" noProof="0" dirty="0"/>
            </a:br>
            <a:r>
              <a:rPr lang="en-US" sz="1600" b="1" noProof="0" dirty="0"/>
              <a:t>Wealth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540A3D18-73BB-E1A0-1C5D-82A4B26467D3}"/>
              </a:ext>
            </a:extLst>
          </p:cNvPr>
          <p:cNvCxnSpPr>
            <a:cxnSpLocks/>
          </p:cNvCxnSpPr>
          <p:nvPr/>
        </p:nvCxnSpPr>
        <p:spPr>
          <a:xfrm flipH="1">
            <a:off x="7883410" y="2444620"/>
            <a:ext cx="654030" cy="96421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4969C5D-E979-B07A-856B-199499C48749}"/>
              </a:ext>
            </a:extLst>
          </p:cNvPr>
          <p:cNvCxnSpPr>
            <a:cxnSpLocks/>
          </p:cNvCxnSpPr>
          <p:nvPr/>
        </p:nvCxnSpPr>
        <p:spPr>
          <a:xfrm>
            <a:off x="10205675" y="2444620"/>
            <a:ext cx="822862" cy="947473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6C00E831-84C4-AAAA-9330-0A5654B9461D}"/>
              </a:ext>
            </a:extLst>
          </p:cNvPr>
          <p:cNvSpPr txBox="1">
            <a:spLocks/>
          </p:cNvSpPr>
          <p:nvPr/>
        </p:nvSpPr>
        <p:spPr>
          <a:xfrm>
            <a:off x="6512160" y="1903445"/>
            <a:ext cx="1770903" cy="14677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consumption of luxury goods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Afford to establish high quality chocolate industry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BB2C1D16-B826-C714-0DD5-6C9701EC05C8}"/>
              </a:ext>
            </a:extLst>
          </p:cNvPr>
          <p:cNvSpPr txBox="1">
            <a:spLocks/>
          </p:cNvSpPr>
          <p:nvPr/>
        </p:nvSpPr>
        <p:spPr>
          <a:xfrm>
            <a:off x="10372503" y="1692304"/>
            <a:ext cx="1770903" cy="1467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resources for research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Historically establish research institutes</a:t>
            </a:r>
          </a:p>
        </p:txBody>
      </p:sp>
    </p:spTree>
    <p:extLst>
      <p:ext uri="{BB962C8B-B14F-4D97-AF65-F5344CB8AC3E}">
        <p14:creationId xmlns:p14="http://schemas.microsoft.com/office/powerpoint/2010/main" val="3252139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6A96D-FFE4-FD0E-25DE-659479D0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3A0CEB96-2918-8C90-A3F1-5BEFEC405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0096AF85-354B-21D8-4CF1-0B4303AD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 first glance, seems like ice cream makes people more violent??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Our model: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 = A + B * Ice cream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6E3ACF4-BE48-A155-C839-4BC0E09F1746}"/>
              </a:ext>
            </a:extLst>
          </p:cNvPr>
          <p:cNvCxnSpPr>
            <a:cxnSpLocks/>
          </p:cNvCxnSpPr>
          <p:nvPr/>
        </p:nvCxnSpPr>
        <p:spPr>
          <a:xfrm flipV="1">
            <a:off x="2075723" y="2599386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0BC7C572-0881-A64A-FC5D-C843D28B6E1F}"/>
              </a:ext>
            </a:extLst>
          </p:cNvPr>
          <p:cNvCxnSpPr>
            <a:cxnSpLocks/>
          </p:cNvCxnSpPr>
          <p:nvPr/>
        </p:nvCxnSpPr>
        <p:spPr>
          <a:xfrm>
            <a:off x="2075723" y="6025492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CB98150-AC78-A6FB-22E4-5A24F8C04FE2}"/>
              </a:ext>
            </a:extLst>
          </p:cNvPr>
          <p:cNvSpPr txBox="1">
            <a:spLocks/>
          </p:cNvSpPr>
          <p:nvPr/>
        </p:nvSpPr>
        <p:spPr>
          <a:xfrm>
            <a:off x="189170" y="3739870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Violent</a:t>
            </a:r>
            <a:b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</a:t>
            </a:r>
            <a:endParaRPr lang="en-US" sz="18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F6E86B6-34D0-02A2-069E-9C3C06E6DA90}"/>
              </a:ext>
            </a:extLst>
          </p:cNvPr>
          <p:cNvSpPr/>
          <p:nvPr/>
        </p:nvSpPr>
        <p:spPr>
          <a:xfrm>
            <a:off x="4985182" y="3200367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C499517-1F8F-F374-268C-90ACB9EC9B0F}"/>
              </a:ext>
            </a:extLst>
          </p:cNvPr>
          <p:cNvSpPr/>
          <p:nvPr/>
        </p:nvSpPr>
        <p:spPr>
          <a:xfrm>
            <a:off x="4285268" y="357396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5F212A8F-F1A6-4F3E-5F1B-64A2801C5C91}"/>
              </a:ext>
            </a:extLst>
          </p:cNvPr>
          <p:cNvSpPr/>
          <p:nvPr/>
        </p:nvSpPr>
        <p:spPr>
          <a:xfrm>
            <a:off x="3519530" y="4584474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6B388A53-AABF-C999-E3E2-9336A9B71AC6}"/>
              </a:ext>
            </a:extLst>
          </p:cNvPr>
          <p:cNvSpPr/>
          <p:nvPr/>
        </p:nvSpPr>
        <p:spPr>
          <a:xfrm>
            <a:off x="4204132" y="4224034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0D12CCE5-A7D0-3CC0-0997-1402C74CB2A3}"/>
              </a:ext>
            </a:extLst>
          </p:cNvPr>
          <p:cNvSpPr txBox="1">
            <a:spLocks/>
          </p:cNvSpPr>
          <p:nvPr/>
        </p:nvSpPr>
        <p:spPr>
          <a:xfrm>
            <a:off x="6011175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D7C656D-49CF-A132-0E66-E0405F0A200A}"/>
              </a:ext>
            </a:extLst>
          </p:cNvPr>
          <p:cNvCxnSpPr>
            <a:cxnSpLocks/>
          </p:cNvCxnSpPr>
          <p:nvPr/>
        </p:nvCxnSpPr>
        <p:spPr>
          <a:xfrm flipV="1">
            <a:off x="6149298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D38745D9-B04A-29F4-4C0B-262D963E7909}"/>
              </a:ext>
            </a:extLst>
          </p:cNvPr>
          <p:cNvSpPr txBox="1">
            <a:spLocks/>
          </p:cNvSpPr>
          <p:nvPr/>
        </p:nvSpPr>
        <p:spPr>
          <a:xfrm>
            <a:off x="4703040" y="6113919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D641D737-AFBA-D67A-5D17-5F57899C3A82}"/>
              </a:ext>
            </a:extLst>
          </p:cNvPr>
          <p:cNvCxnSpPr>
            <a:cxnSpLocks/>
          </p:cNvCxnSpPr>
          <p:nvPr/>
        </p:nvCxnSpPr>
        <p:spPr>
          <a:xfrm flipV="1">
            <a:off x="4841163" y="5934689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19EFFC51-6DB6-1D4B-25C0-CDA27784FFFE}"/>
              </a:ext>
            </a:extLst>
          </p:cNvPr>
          <p:cNvSpPr txBox="1">
            <a:spLocks/>
          </p:cNvSpPr>
          <p:nvPr/>
        </p:nvSpPr>
        <p:spPr>
          <a:xfrm>
            <a:off x="3261157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61FE8CFA-2B4B-E784-1C7B-0B64C7055BC1}"/>
              </a:ext>
            </a:extLst>
          </p:cNvPr>
          <p:cNvCxnSpPr>
            <a:cxnSpLocks/>
          </p:cNvCxnSpPr>
          <p:nvPr/>
        </p:nvCxnSpPr>
        <p:spPr>
          <a:xfrm flipV="1">
            <a:off x="3399280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1B2B7E3-87E1-EB7A-509E-C59605430864}"/>
              </a:ext>
            </a:extLst>
          </p:cNvPr>
          <p:cNvCxnSpPr>
            <a:cxnSpLocks/>
          </p:cNvCxnSpPr>
          <p:nvPr/>
        </p:nvCxnSpPr>
        <p:spPr>
          <a:xfrm>
            <a:off x="1978815" y="36929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7138A9DB-F11A-E24C-47E0-E038F033A5A2}"/>
              </a:ext>
            </a:extLst>
          </p:cNvPr>
          <p:cNvCxnSpPr>
            <a:cxnSpLocks/>
          </p:cNvCxnSpPr>
          <p:nvPr/>
        </p:nvCxnSpPr>
        <p:spPr>
          <a:xfrm>
            <a:off x="1978815" y="45023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67872EE8-EA54-A3C9-BBF1-D90E3893B419}"/>
              </a:ext>
            </a:extLst>
          </p:cNvPr>
          <p:cNvCxnSpPr>
            <a:cxnSpLocks/>
          </p:cNvCxnSpPr>
          <p:nvPr/>
        </p:nvCxnSpPr>
        <p:spPr>
          <a:xfrm>
            <a:off x="1978815" y="5351080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8F08B507-7F47-AECB-F198-81D7783CC9DC}"/>
              </a:ext>
            </a:extLst>
          </p:cNvPr>
          <p:cNvCxnSpPr>
            <a:cxnSpLocks/>
          </p:cNvCxnSpPr>
          <p:nvPr/>
        </p:nvCxnSpPr>
        <p:spPr>
          <a:xfrm>
            <a:off x="1978815" y="287542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7C653247-A314-A563-95DF-7C396D694BAC}"/>
              </a:ext>
            </a:extLst>
          </p:cNvPr>
          <p:cNvSpPr txBox="1">
            <a:spLocks/>
          </p:cNvSpPr>
          <p:nvPr/>
        </p:nvSpPr>
        <p:spPr>
          <a:xfrm>
            <a:off x="1486049" y="273378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9ED5950A-CF56-9D81-C418-35B95EFABF2D}"/>
              </a:ext>
            </a:extLst>
          </p:cNvPr>
          <p:cNvSpPr txBox="1">
            <a:spLocks/>
          </p:cNvSpPr>
          <p:nvPr/>
        </p:nvSpPr>
        <p:spPr>
          <a:xfrm>
            <a:off x="1470316" y="3576066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6AE6E672-9B0A-7EC5-A144-A59FE93FB94B}"/>
              </a:ext>
            </a:extLst>
          </p:cNvPr>
          <p:cNvSpPr txBox="1">
            <a:spLocks/>
          </p:cNvSpPr>
          <p:nvPr/>
        </p:nvSpPr>
        <p:spPr>
          <a:xfrm>
            <a:off x="1470316" y="4376947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44773E4A-9F71-D271-2532-1D661B326A58}"/>
              </a:ext>
            </a:extLst>
          </p:cNvPr>
          <p:cNvSpPr txBox="1">
            <a:spLocks/>
          </p:cNvSpPr>
          <p:nvPr/>
        </p:nvSpPr>
        <p:spPr>
          <a:xfrm>
            <a:off x="1486049" y="521416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5527DA22-FC8F-3207-4A99-9D0CC9C1A9BB}"/>
              </a:ext>
            </a:extLst>
          </p:cNvPr>
          <p:cNvSpPr/>
          <p:nvPr/>
        </p:nvSpPr>
        <p:spPr>
          <a:xfrm>
            <a:off x="5666492" y="325526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6C6C0EC0-E2EF-84B0-9FD2-A381D0F1C29B}"/>
              </a:ext>
            </a:extLst>
          </p:cNvPr>
          <p:cNvSpPr/>
          <p:nvPr/>
        </p:nvSpPr>
        <p:spPr>
          <a:xfrm>
            <a:off x="5138973" y="3821422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6DB47085-9B79-BEDB-A1B2-BA5BCCD20E88}"/>
              </a:ext>
            </a:extLst>
          </p:cNvPr>
          <p:cNvSpPr/>
          <p:nvPr/>
        </p:nvSpPr>
        <p:spPr>
          <a:xfrm>
            <a:off x="3557126" y="4011814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015AFD43-310A-9B98-A8EE-8EE2B3AE3565}"/>
              </a:ext>
            </a:extLst>
          </p:cNvPr>
          <p:cNvCxnSpPr>
            <a:cxnSpLocks/>
          </p:cNvCxnSpPr>
          <p:nvPr/>
        </p:nvCxnSpPr>
        <p:spPr>
          <a:xfrm flipV="1">
            <a:off x="2711636" y="3033502"/>
            <a:ext cx="3768856" cy="1643167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nhaltsplatzhalter 2">
            <a:extLst>
              <a:ext uri="{FF2B5EF4-FFF2-40B4-BE49-F238E27FC236}">
                <a16:creationId xmlns:a16="http://schemas.microsoft.com/office/drawing/2014/main" id="{4517AFA1-EFBE-A4FD-6645-CA55AC114788}"/>
              </a:ext>
            </a:extLst>
          </p:cNvPr>
          <p:cNvSpPr txBox="1">
            <a:spLocks/>
          </p:cNvSpPr>
          <p:nvPr/>
        </p:nvSpPr>
        <p:spPr>
          <a:xfrm>
            <a:off x="2711636" y="6379594"/>
            <a:ext cx="2715830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Ice cream consumption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19E2279-8956-B933-F997-00BF8BA8CEAE}"/>
              </a:ext>
            </a:extLst>
          </p:cNvPr>
          <p:cNvSpPr/>
          <p:nvPr/>
        </p:nvSpPr>
        <p:spPr>
          <a:xfrm>
            <a:off x="3009079" y="4277505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084F4C8E-3C6E-0A39-F57C-5471AB02397E}"/>
              </a:ext>
            </a:extLst>
          </p:cNvPr>
          <p:cNvSpPr txBox="1">
            <a:spLocks/>
          </p:cNvSpPr>
          <p:nvPr/>
        </p:nvSpPr>
        <p:spPr>
          <a:xfrm>
            <a:off x="6323768" y="6136167"/>
            <a:ext cx="1901082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Kg/month/capita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5" name="Inhaltsplatzhalter 2">
            <a:extLst>
              <a:ext uri="{FF2B5EF4-FFF2-40B4-BE49-F238E27FC236}">
                <a16:creationId xmlns:a16="http://schemas.microsoft.com/office/drawing/2014/main" id="{3577DDC2-D0A6-62CD-CE4E-DA5789CD089B}"/>
              </a:ext>
            </a:extLst>
          </p:cNvPr>
          <p:cNvSpPr txBox="1">
            <a:spLocks/>
          </p:cNvSpPr>
          <p:nvPr/>
        </p:nvSpPr>
        <p:spPr>
          <a:xfrm>
            <a:off x="174216" y="2471727"/>
            <a:ext cx="2022945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Attack/million 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2CF5DB6A-7F63-51DF-6324-B4F90B05637B}"/>
              </a:ext>
            </a:extLst>
          </p:cNvPr>
          <p:cNvSpPr/>
          <p:nvPr/>
        </p:nvSpPr>
        <p:spPr>
          <a:xfrm>
            <a:off x="7790752" y="4023657"/>
            <a:ext cx="1404958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Ice cream</a:t>
            </a:r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29DEA8CD-D923-9664-566A-9A6AD464FAF0}"/>
              </a:ext>
            </a:extLst>
          </p:cNvPr>
          <p:cNvCxnSpPr>
            <a:cxnSpLocks/>
          </p:cNvCxnSpPr>
          <p:nvPr/>
        </p:nvCxnSpPr>
        <p:spPr>
          <a:xfrm>
            <a:off x="9306132" y="4670649"/>
            <a:ext cx="870409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Ellipse 62">
            <a:extLst>
              <a:ext uri="{FF2B5EF4-FFF2-40B4-BE49-F238E27FC236}">
                <a16:creationId xmlns:a16="http://schemas.microsoft.com/office/drawing/2014/main" id="{CB0A4091-FBEE-42D9-E565-0ABF32B60D1C}"/>
              </a:ext>
            </a:extLst>
          </p:cNvPr>
          <p:cNvSpPr/>
          <p:nvPr/>
        </p:nvSpPr>
        <p:spPr>
          <a:xfrm>
            <a:off x="10262503" y="4063616"/>
            <a:ext cx="1325050" cy="125678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Violent</a:t>
            </a:r>
            <a:br>
              <a:rPr lang="en-US" sz="1600" b="1" noProof="0" dirty="0"/>
            </a:br>
            <a:r>
              <a:rPr lang="en-US" sz="1600" b="1" noProof="0" dirty="0"/>
              <a:t>Crime</a:t>
            </a:r>
          </a:p>
        </p:txBody>
      </p:sp>
    </p:spTree>
    <p:extLst>
      <p:ext uri="{BB962C8B-B14F-4D97-AF65-F5344CB8AC3E}">
        <p14:creationId xmlns:p14="http://schemas.microsoft.com/office/powerpoint/2010/main" val="22078922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5ACB0C-E60B-5CC8-C9F4-B7E4E6976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ACEECB4-5343-114E-4F65-8F1F3FE4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12678E49-CDDF-0022-3938-8B193D10E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 first glance, seems like ice cream makes people more violent??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if we account for (control for) temperature?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Our model: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 = A + B * Ice cream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95C84DC8-9D01-28F4-4AB1-160547091113}"/>
              </a:ext>
            </a:extLst>
          </p:cNvPr>
          <p:cNvSpPr/>
          <p:nvPr/>
        </p:nvSpPr>
        <p:spPr>
          <a:xfrm>
            <a:off x="7790752" y="4023657"/>
            <a:ext cx="1404958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Ice cream</a:t>
            </a:r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60A17792-09CE-3E37-A286-45F104657C96}"/>
              </a:ext>
            </a:extLst>
          </p:cNvPr>
          <p:cNvCxnSpPr>
            <a:cxnSpLocks/>
          </p:cNvCxnSpPr>
          <p:nvPr/>
        </p:nvCxnSpPr>
        <p:spPr>
          <a:xfrm>
            <a:off x="9306132" y="4670649"/>
            <a:ext cx="870409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Ellipse 57">
            <a:extLst>
              <a:ext uri="{FF2B5EF4-FFF2-40B4-BE49-F238E27FC236}">
                <a16:creationId xmlns:a16="http://schemas.microsoft.com/office/drawing/2014/main" id="{07526AEA-F18E-9F97-3782-FDA59425BD65}"/>
              </a:ext>
            </a:extLst>
          </p:cNvPr>
          <p:cNvSpPr/>
          <p:nvPr/>
        </p:nvSpPr>
        <p:spPr>
          <a:xfrm>
            <a:off x="10262503" y="4063616"/>
            <a:ext cx="1325050" cy="125678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Violent</a:t>
            </a:r>
            <a:br>
              <a:rPr lang="en-US" sz="1600" b="1" noProof="0" dirty="0"/>
            </a:br>
            <a:r>
              <a:rPr lang="en-US" sz="1600" b="1" noProof="0" dirty="0"/>
              <a:t>Crime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DAE34B48-81C5-9371-6F4F-78057EE816A2}"/>
              </a:ext>
            </a:extLst>
          </p:cNvPr>
          <p:cNvSpPr/>
          <p:nvPr/>
        </p:nvSpPr>
        <p:spPr>
          <a:xfrm>
            <a:off x="9124084" y="1998479"/>
            <a:ext cx="1392461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CD1E4C-3870-0D20-5FE9-7DC4AF6ED0AC}"/>
              </a:ext>
            </a:extLst>
          </p:cNvPr>
          <p:cNvSpPr txBox="1">
            <a:spLocks/>
          </p:cNvSpPr>
          <p:nvPr/>
        </p:nvSpPr>
        <p:spPr>
          <a:xfrm>
            <a:off x="9042763" y="2552518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Temperature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E9405C2A-EC80-49BE-5F6A-554F472FB9AD}"/>
              </a:ext>
            </a:extLst>
          </p:cNvPr>
          <p:cNvCxnSpPr>
            <a:cxnSpLocks/>
          </p:cNvCxnSpPr>
          <p:nvPr/>
        </p:nvCxnSpPr>
        <p:spPr>
          <a:xfrm flipH="1">
            <a:off x="8691593" y="3152262"/>
            <a:ext cx="432491" cy="877316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FDEF8A10-8F96-133F-E6D0-0507CAD0D588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10426735" y="3205029"/>
            <a:ext cx="498293" cy="858587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C36F15CF-02F2-F549-611C-E885C05894BB}"/>
              </a:ext>
            </a:extLst>
          </p:cNvPr>
          <p:cNvCxnSpPr>
            <a:cxnSpLocks/>
          </p:cNvCxnSpPr>
          <p:nvPr/>
        </p:nvCxnSpPr>
        <p:spPr>
          <a:xfrm flipV="1">
            <a:off x="2075723" y="2599386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64429E04-5178-BC0D-D5C8-AD6929425D61}"/>
              </a:ext>
            </a:extLst>
          </p:cNvPr>
          <p:cNvCxnSpPr>
            <a:cxnSpLocks/>
          </p:cNvCxnSpPr>
          <p:nvPr/>
        </p:nvCxnSpPr>
        <p:spPr>
          <a:xfrm>
            <a:off x="2075723" y="6025492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9A0C30C9-2EE7-7586-FA81-2ACAA27658A4}"/>
              </a:ext>
            </a:extLst>
          </p:cNvPr>
          <p:cNvSpPr txBox="1">
            <a:spLocks/>
          </p:cNvSpPr>
          <p:nvPr/>
        </p:nvSpPr>
        <p:spPr>
          <a:xfrm>
            <a:off x="189170" y="3739870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Violent</a:t>
            </a:r>
            <a:b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</a:t>
            </a:r>
            <a:endParaRPr lang="en-US" sz="18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7A9917D-CC52-5E30-FE41-7489D0B07170}"/>
              </a:ext>
            </a:extLst>
          </p:cNvPr>
          <p:cNvSpPr/>
          <p:nvPr/>
        </p:nvSpPr>
        <p:spPr>
          <a:xfrm>
            <a:off x="4985182" y="3200367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0FEB14D6-6A67-6EB2-DC30-60F31DEA1B53}"/>
              </a:ext>
            </a:extLst>
          </p:cNvPr>
          <p:cNvSpPr/>
          <p:nvPr/>
        </p:nvSpPr>
        <p:spPr>
          <a:xfrm>
            <a:off x="4285268" y="357396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3C05062D-C349-5674-3D89-5F4777CCF1A4}"/>
              </a:ext>
            </a:extLst>
          </p:cNvPr>
          <p:cNvSpPr/>
          <p:nvPr/>
        </p:nvSpPr>
        <p:spPr>
          <a:xfrm>
            <a:off x="3519530" y="4584474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6F3927F-225C-618C-6A13-E68F6CD00ABF}"/>
              </a:ext>
            </a:extLst>
          </p:cNvPr>
          <p:cNvSpPr/>
          <p:nvPr/>
        </p:nvSpPr>
        <p:spPr>
          <a:xfrm>
            <a:off x="4204132" y="4224034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51FB7DA7-1EF1-5020-1EED-85D1EDCBB383}"/>
              </a:ext>
            </a:extLst>
          </p:cNvPr>
          <p:cNvSpPr txBox="1">
            <a:spLocks/>
          </p:cNvSpPr>
          <p:nvPr/>
        </p:nvSpPr>
        <p:spPr>
          <a:xfrm>
            <a:off x="6011175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1559B9CE-3C55-B60E-1FBF-68FBA4776184}"/>
              </a:ext>
            </a:extLst>
          </p:cNvPr>
          <p:cNvCxnSpPr>
            <a:cxnSpLocks/>
          </p:cNvCxnSpPr>
          <p:nvPr/>
        </p:nvCxnSpPr>
        <p:spPr>
          <a:xfrm flipV="1">
            <a:off x="6149298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5DE2F7EE-2C61-4603-679C-9C65D304DE85}"/>
              </a:ext>
            </a:extLst>
          </p:cNvPr>
          <p:cNvSpPr txBox="1">
            <a:spLocks/>
          </p:cNvSpPr>
          <p:nvPr/>
        </p:nvSpPr>
        <p:spPr>
          <a:xfrm>
            <a:off x="4703040" y="6113919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15B9D1AA-F66F-45AF-489A-DFFDC3826501}"/>
              </a:ext>
            </a:extLst>
          </p:cNvPr>
          <p:cNvCxnSpPr>
            <a:cxnSpLocks/>
          </p:cNvCxnSpPr>
          <p:nvPr/>
        </p:nvCxnSpPr>
        <p:spPr>
          <a:xfrm flipV="1">
            <a:off x="4841163" y="5934689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nhaltsplatzhalter 2">
            <a:extLst>
              <a:ext uri="{FF2B5EF4-FFF2-40B4-BE49-F238E27FC236}">
                <a16:creationId xmlns:a16="http://schemas.microsoft.com/office/drawing/2014/main" id="{FDF250C5-43BE-E2EB-8ECE-126965CAAD5A}"/>
              </a:ext>
            </a:extLst>
          </p:cNvPr>
          <p:cNvSpPr txBox="1">
            <a:spLocks/>
          </p:cNvSpPr>
          <p:nvPr/>
        </p:nvSpPr>
        <p:spPr>
          <a:xfrm>
            <a:off x="3261157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61381F98-FF07-1C5A-BF7F-318B522C85F0}"/>
              </a:ext>
            </a:extLst>
          </p:cNvPr>
          <p:cNvCxnSpPr>
            <a:cxnSpLocks/>
          </p:cNvCxnSpPr>
          <p:nvPr/>
        </p:nvCxnSpPr>
        <p:spPr>
          <a:xfrm flipV="1">
            <a:off x="3399280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E5A69C83-F6A3-140D-3011-546CD848D6BE}"/>
              </a:ext>
            </a:extLst>
          </p:cNvPr>
          <p:cNvCxnSpPr>
            <a:cxnSpLocks/>
          </p:cNvCxnSpPr>
          <p:nvPr/>
        </p:nvCxnSpPr>
        <p:spPr>
          <a:xfrm>
            <a:off x="1978815" y="36929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06FBE8B5-5677-1474-A470-33ACBDFC1AC6}"/>
              </a:ext>
            </a:extLst>
          </p:cNvPr>
          <p:cNvCxnSpPr>
            <a:cxnSpLocks/>
          </p:cNvCxnSpPr>
          <p:nvPr/>
        </p:nvCxnSpPr>
        <p:spPr>
          <a:xfrm>
            <a:off x="1978815" y="45023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EB882929-4B9E-0AE2-6D34-AE6D9CDBB4F0}"/>
              </a:ext>
            </a:extLst>
          </p:cNvPr>
          <p:cNvCxnSpPr>
            <a:cxnSpLocks/>
          </p:cNvCxnSpPr>
          <p:nvPr/>
        </p:nvCxnSpPr>
        <p:spPr>
          <a:xfrm>
            <a:off x="1978815" y="5351080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4D41C495-5B88-086D-28B9-DDED5A697D15}"/>
              </a:ext>
            </a:extLst>
          </p:cNvPr>
          <p:cNvCxnSpPr>
            <a:cxnSpLocks/>
          </p:cNvCxnSpPr>
          <p:nvPr/>
        </p:nvCxnSpPr>
        <p:spPr>
          <a:xfrm>
            <a:off x="1978815" y="287542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62DEE23A-4FDA-3A3E-0485-B6504F87C2B8}"/>
              </a:ext>
            </a:extLst>
          </p:cNvPr>
          <p:cNvSpPr txBox="1">
            <a:spLocks/>
          </p:cNvSpPr>
          <p:nvPr/>
        </p:nvSpPr>
        <p:spPr>
          <a:xfrm>
            <a:off x="1486049" y="273378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4981C953-2B09-6214-D64E-DE44A530F715}"/>
              </a:ext>
            </a:extLst>
          </p:cNvPr>
          <p:cNvSpPr txBox="1">
            <a:spLocks/>
          </p:cNvSpPr>
          <p:nvPr/>
        </p:nvSpPr>
        <p:spPr>
          <a:xfrm>
            <a:off x="1470316" y="3576066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5E483CB9-2BCA-2F69-55B2-9C8120B855FC}"/>
              </a:ext>
            </a:extLst>
          </p:cNvPr>
          <p:cNvSpPr txBox="1">
            <a:spLocks/>
          </p:cNvSpPr>
          <p:nvPr/>
        </p:nvSpPr>
        <p:spPr>
          <a:xfrm>
            <a:off x="1470316" y="4376947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7" name="Inhaltsplatzhalter 2">
            <a:extLst>
              <a:ext uri="{FF2B5EF4-FFF2-40B4-BE49-F238E27FC236}">
                <a16:creationId xmlns:a16="http://schemas.microsoft.com/office/drawing/2014/main" id="{61011FC5-837F-7848-C748-0EC698781039}"/>
              </a:ext>
            </a:extLst>
          </p:cNvPr>
          <p:cNvSpPr txBox="1">
            <a:spLocks/>
          </p:cNvSpPr>
          <p:nvPr/>
        </p:nvSpPr>
        <p:spPr>
          <a:xfrm>
            <a:off x="1486049" y="521416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1774714E-1739-E84E-EBAF-452FBDCB0647}"/>
              </a:ext>
            </a:extLst>
          </p:cNvPr>
          <p:cNvSpPr/>
          <p:nvPr/>
        </p:nvSpPr>
        <p:spPr>
          <a:xfrm>
            <a:off x="5666492" y="325526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509F3AA9-C8FC-CE46-8C13-004943966ED1}"/>
              </a:ext>
            </a:extLst>
          </p:cNvPr>
          <p:cNvSpPr/>
          <p:nvPr/>
        </p:nvSpPr>
        <p:spPr>
          <a:xfrm>
            <a:off x="5138973" y="3821422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38B933D1-E9EE-603B-4D39-82C7AC5E2588}"/>
              </a:ext>
            </a:extLst>
          </p:cNvPr>
          <p:cNvSpPr/>
          <p:nvPr/>
        </p:nvSpPr>
        <p:spPr>
          <a:xfrm>
            <a:off x="3557126" y="4011814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382E1145-A132-B082-398D-2B43C06C9168}"/>
              </a:ext>
            </a:extLst>
          </p:cNvPr>
          <p:cNvCxnSpPr>
            <a:cxnSpLocks/>
          </p:cNvCxnSpPr>
          <p:nvPr/>
        </p:nvCxnSpPr>
        <p:spPr>
          <a:xfrm flipV="1">
            <a:off x="2711636" y="3033502"/>
            <a:ext cx="3768856" cy="1643167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nhaltsplatzhalter 2">
            <a:extLst>
              <a:ext uri="{FF2B5EF4-FFF2-40B4-BE49-F238E27FC236}">
                <a16:creationId xmlns:a16="http://schemas.microsoft.com/office/drawing/2014/main" id="{C9AAEA57-4F6C-3303-BE24-4F7C6702ADD8}"/>
              </a:ext>
            </a:extLst>
          </p:cNvPr>
          <p:cNvSpPr txBox="1">
            <a:spLocks/>
          </p:cNvSpPr>
          <p:nvPr/>
        </p:nvSpPr>
        <p:spPr>
          <a:xfrm>
            <a:off x="2711636" y="6379594"/>
            <a:ext cx="2715830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Ice cream consumption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B49B1F12-0A52-CB4E-8D7A-8AA4DABE8640}"/>
              </a:ext>
            </a:extLst>
          </p:cNvPr>
          <p:cNvSpPr/>
          <p:nvPr/>
        </p:nvSpPr>
        <p:spPr>
          <a:xfrm>
            <a:off x="3009079" y="4277505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Inhaltsplatzhalter 2">
            <a:extLst>
              <a:ext uri="{FF2B5EF4-FFF2-40B4-BE49-F238E27FC236}">
                <a16:creationId xmlns:a16="http://schemas.microsoft.com/office/drawing/2014/main" id="{D84DD3BE-C590-52B5-CC91-21C6F8AB6451}"/>
              </a:ext>
            </a:extLst>
          </p:cNvPr>
          <p:cNvSpPr txBox="1">
            <a:spLocks/>
          </p:cNvSpPr>
          <p:nvPr/>
        </p:nvSpPr>
        <p:spPr>
          <a:xfrm>
            <a:off x="6323768" y="6136167"/>
            <a:ext cx="1901082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Kg/month/capita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5" name="Inhaltsplatzhalter 2">
            <a:extLst>
              <a:ext uri="{FF2B5EF4-FFF2-40B4-BE49-F238E27FC236}">
                <a16:creationId xmlns:a16="http://schemas.microsoft.com/office/drawing/2014/main" id="{A6F9C459-6D14-1675-2854-F25D00BEAEF2}"/>
              </a:ext>
            </a:extLst>
          </p:cNvPr>
          <p:cNvSpPr txBox="1">
            <a:spLocks/>
          </p:cNvSpPr>
          <p:nvPr/>
        </p:nvSpPr>
        <p:spPr>
          <a:xfrm>
            <a:off x="174216" y="2471727"/>
            <a:ext cx="2022945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Attack/million 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6" name="Inhaltsplatzhalter 2">
            <a:extLst>
              <a:ext uri="{FF2B5EF4-FFF2-40B4-BE49-F238E27FC236}">
                <a16:creationId xmlns:a16="http://schemas.microsoft.com/office/drawing/2014/main" id="{8FAEB0B2-7C38-B4EE-86ED-39416C4E1EAC}"/>
              </a:ext>
            </a:extLst>
          </p:cNvPr>
          <p:cNvSpPr txBox="1">
            <a:spLocks/>
          </p:cNvSpPr>
          <p:nvPr/>
        </p:nvSpPr>
        <p:spPr>
          <a:xfrm>
            <a:off x="7536653" y="3180922"/>
            <a:ext cx="1330525" cy="7443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Heat increases demand for</a:t>
            </a:r>
            <a:b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ice cream</a:t>
            </a: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7" name="Inhaltsplatzhalter 2">
            <a:extLst>
              <a:ext uri="{FF2B5EF4-FFF2-40B4-BE49-F238E27FC236}">
                <a16:creationId xmlns:a16="http://schemas.microsoft.com/office/drawing/2014/main" id="{695A2804-DE24-19FB-AECC-2AF2CFBB9624}"/>
              </a:ext>
            </a:extLst>
          </p:cNvPr>
          <p:cNvSpPr txBox="1">
            <a:spLocks/>
          </p:cNvSpPr>
          <p:nvPr/>
        </p:nvSpPr>
        <p:spPr>
          <a:xfrm>
            <a:off x="10577215" y="2776110"/>
            <a:ext cx="1392461" cy="12567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People stay outside at night</a:t>
            </a:r>
            <a:b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b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careless tourists</a:t>
            </a: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34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0D975-B37C-4ECF-AB88-8EC68D558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9C1CA1A2-BD03-A874-9509-2F52678B9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7BEA03E5-2D2D-6A0E-BCD4-AE2065C98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 first glance, seems like ice cream makes people more violent??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if we account for (control for) temperature?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Our model: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 = A +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B1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 Ice cream +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B2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 Temperature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1094BA2B-A06A-01DC-1552-5841299B3E75}"/>
              </a:ext>
            </a:extLst>
          </p:cNvPr>
          <p:cNvCxnSpPr>
            <a:cxnSpLocks/>
          </p:cNvCxnSpPr>
          <p:nvPr/>
        </p:nvCxnSpPr>
        <p:spPr>
          <a:xfrm flipV="1">
            <a:off x="2075723" y="2599386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9DEDAF59-9B14-B9C4-DCA3-75FA5D08EC59}"/>
              </a:ext>
            </a:extLst>
          </p:cNvPr>
          <p:cNvCxnSpPr>
            <a:cxnSpLocks/>
          </p:cNvCxnSpPr>
          <p:nvPr/>
        </p:nvCxnSpPr>
        <p:spPr>
          <a:xfrm>
            <a:off x="2075723" y="6025492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600FEAD7-0211-B141-4ECE-A7492E6608D7}"/>
              </a:ext>
            </a:extLst>
          </p:cNvPr>
          <p:cNvSpPr txBox="1">
            <a:spLocks/>
          </p:cNvSpPr>
          <p:nvPr/>
        </p:nvSpPr>
        <p:spPr>
          <a:xfrm>
            <a:off x="189170" y="3739870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Violent</a:t>
            </a:r>
            <a:b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</a:t>
            </a:r>
            <a:endParaRPr lang="en-US" sz="18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F1314CAA-BDF3-4F8A-45BA-6719DDA82244}"/>
              </a:ext>
            </a:extLst>
          </p:cNvPr>
          <p:cNvSpPr/>
          <p:nvPr/>
        </p:nvSpPr>
        <p:spPr>
          <a:xfrm>
            <a:off x="4985182" y="3200367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CBD8E6B0-03AE-CE9D-C0EC-9DF2A1F60977}"/>
              </a:ext>
            </a:extLst>
          </p:cNvPr>
          <p:cNvSpPr/>
          <p:nvPr/>
        </p:nvSpPr>
        <p:spPr>
          <a:xfrm>
            <a:off x="4285268" y="3573966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F665C28F-3D31-7F5B-FC82-39C2B13F33AE}"/>
              </a:ext>
            </a:extLst>
          </p:cNvPr>
          <p:cNvSpPr/>
          <p:nvPr/>
        </p:nvSpPr>
        <p:spPr>
          <a:xfrm>
            <a:off x="3519530" y="4584474"/>
            <a:ext cx="138892" cy="1273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4E8FBD57-7577-2ED0-AC49-C51717E79EE9}"/>
              </a:ext>
            </a:extLst>
          </p:cNvPr>
          <p:cNvSpPr/>
          <p:nvPr/>
        </p:nvSpPr>
        <p:spPr>
          <a:xfrm>
            <a:off x="4204132" y="4224034"/>
            <a:ext cx="138892" cy="12732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D20D87E9-7DDD-F111-ACA2-74A34E9AB0F9}"/>
              </a:ext>
            </a:extLst>
          </p:cNvPr>
          <p:cNvSpPr txBox="1">
            <a:spLocks/>
          </p:cNvSpPr>
          <p:nvPr/>
        </p:nvSpPr>
        <p:spPr>
          <a:xfrm>
            <a:off x="6011175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3DCA48DB-4353-50EE-7596-D28434B0AEEC}"/>
              </a:ext>
            </a:extLst>
          </p:cNvPr>
          <p:cNvCxnSpPr>
            <a:cxnSpLocks/>
          </p:cNvCxnSpPr>
          <p:nvPr/>
        </p:nvCxnSpPr>
        <p:spPr>
          <a:xfrm flipV="1">
            <a:off x="6149298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1C8521A6-1754-6510-5BE6-B5474C1645B9}"/>
              </a:ext>
            </a:extLst>
          </p:cNvPr>
          <p:cNvSpPr txBox="1">
            <a:spLocks/>
          </p:cNvSpPr>
          <p:nvPr/>
        </p:nvSpPr>
        <p:spPr>
          <a:xfrm>
            <a:off x="4703040" y="6113919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935C8D6C-395B-1171-BB25-3622D694A2F7}"/>
              </a:ext>
            </a:extLst>
          </p:cNvPr>
          <p:cNvCxnSpPr>
            <a:cxnSpLocks/>
          </p:cNvCxnSpPr>
          <p:nvPr/>
        </p:nvCxnSpPr>
        <p:spPr>
          <a:xfrm flipV="1">
            <a:off x="4841163" y="5934689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nhaltsplatzhalter 2">
            <a:extLst>
              <a:ext uri="{FF2B5EF4-FFF2-40B4-BE49-F238E27FC236}">
                <a16:creationId xmlns:a16="http://schemas.microsoft.com/office/drawing/2014/main" id="{61A2A1B8-25E0-1ADD-E565-65FABC3BBAFD}"/>
              </a:ext>
            </a:extLst>
          </p:cNvPr>
          <p:cNvSpPr txBox="1">
            <a:spLocks/>
          </p:cNvSpPr>
          <p:nvPr/>
        </p:nvSpPr>
        <p:spPr>
          <a:xfrm>
            <a:off x="3261157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0E67FC82-19D2-52CE-58C4-16CE34D92217}"/>
              </a:ext>
            </a:extLst>
          </p:cNvPr>
          <p:cNvCxnSpPr>
            <a:cxnSpLocks/>
          </p:cNvCxnSpPr>
          <p:nvPr/>
        </p:nvCxnSpPr>
        <p:spPr>
          <a:xfrm flipV="1">
            <a:off x="3399280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F257DFF9-FD7F-ECF6-911B-ED35A89EF40F}"/>
              </a:ext>
            </a:extLst>
          </p:cNvPr>
          <p:cNvCxnSpPr>
            <a:cxnSpLocks/>
          </p:cNvCxnSpPr>
          <p:nvPr/>
        </p:nvCxnSpPr>
        <p:spPr>
          <a:xfrm>
            <a:off x="1978815" y="36929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0FDFFB48-3452-4121-088B-133FB76CA33C}"/>
              </a:ext>
            </a:extLst>
          </p:cNvPr>
          <p:cNvCxnSpPr>
            <a:cxnSpLocks/>
          </p:cNvCxnSpPr>
          <p:nvPr/>
        </p:nvCxnSpPr>
        <p:spPr>
          <a:xfrm>
            <a:off x="1978815" y="45023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810B4215-019B-1768-C5BD-D2DECBA6BD46}"/>
              </a:ext>
            </a:extLst>
          </p:cNvPr>
          <p:cNvCxnSpPr>
            <a:cxnSpLocks/>
          </p:cNvCxnSpPr>
          <p:nvPr/>
        </p:nvCxnSpPr>
        <p:spPr>
          <a:xfrm>
            <a:off x="1978815" y="5351080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69D95D79-D058-836A-291D-ACCE753D9085}"/>
              </a:ext>
            </a:extLst>
          </p:cNvPr>
          <p:cNvCxnSpPr>
            <a:cxnSpLocks/>
          </p:cNvCxnSpPr>
          <p:nvPr/>
        </p:nvCxnSpPr>
        <p:spPr>
          <a:xfrm>
            <a:off x="1978815" y="2875424"/>
            <a:ext cx="193815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6C29D6A3-730E-5207-6BE7-BB4AF2EBC262}"/>
              </a:ext>
            </a:extLst>
          </p:cNvPr>
          <p:cNvSpPr txBox="1">
            <a:spLocks/>
          </p:cNvSpPr>
          <p:nvPr/>
        </p:nvSpPr>
        <p:spPr>
          <a:xfrm>
            <a:off x="1486049" y="273378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E54F8C50-F588-2FFB-D9F4-47F54EFB94D2}"/>
              </a:ext>
            </a:extLst>
          </p:cNvPr>
          <p:cNvSpPr txBox="1">
            <a:spLocks/>
          </p:cNvSpPr>
          <p:nvPr/>
        </p:nvSpPr>
        <p:spPr>
          <a:xfrm>
            <a:off x="1470316" y="3576066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AD201BBD-5B47-5F56-C7F0-27C20860AC86}"/>
              </a:ext>
            </a:extLst>
          </p:cNvPr>
          <p:cNvSpPr txBox="1">
            <a:spLocks/>
          </p:cNvSpPr>
          <p:nvPr/>
        </p:nvSpPr>
        <p:spPr>
          <a:xfrm>
            <a:off x="1470316" y="4376947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7" name="Inhaltsplatzhalter 2">
            <a:extLst>
              <a:ext uri="{FF2B5EF4-FFF2-40B4-BE49-F238E27FC236}">
                <a16:creationId xmlns:a16="http://schemas.microsoft.com/office/drawing/2014/main" id="{E3506F87-F047-64A0-A7C2-192BD52A7006}"/>
              </a:ext>
            </a:extLst>
          </p:cNvPr>
          <p:cNvSpPr txBox="1">
            <a:spLocks/>
          </p:cNvSpPr>
          <p:nvPr/>
        </p:nvSpPr>
        <p:spPr>
          <a:xfrm>
            <a:off x="1486049" y="521416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A58FB2A4-0FFC-1943-18EB-1BD2A746CAAA}"/>
              </a:ext>
            </a:extLst>
          </p:cNvPr>
          <p:cNvSpPr/>
          <p:nvPr/>
        </p:nvSpPr>
        <p:spPr>
          <a:xfrm>
            <a:off x="5666492" y="3255266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774F39CF-6ABF-EE69-B2EC-9B8776545BC4}"/>
              </a:ext>
            </a:extLst>
          </p:cNvPr>
          <p:cNvSpPr/>
          <p:nvPr/>
        </p:nvSpPr>
        <p:spPr>
          <a:xfrm>
            <a:off x="5138973" y="3821422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01B25F67-5201-CC7C-C0F6-376E02403F33}"/>
              </a:ext>
            </a:extLst>
          </p:cNvPr>
          <p:cNvSpPr/>
          <p:nvPr/>
        </p:nvSpPr>
        <p:spPr>
          <a:xfrm>
            <a:off x="3557126" y="4011814"/>
            <a:ext cx="138892" cy="12732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D7E264BC-64A7-92D8-9D6E-99F358CC33A4}"/>
              </a:ext>
            </a:extLst>
          </p:cNvPr>
          <p:cNvCxnSpPr>
            <a:cxnSpLocks/>
          </p:cNvCxnSpPr>
          <p:nvPr/>
        </p:nvCxnSpPr>
        <p:spPr>
          <a:xfrm>
            <a:off x="4553339" y="3300748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nhaltsplatzhalter 2">
            <a:extLst>
              <a:ext uri="{FF2B5EF4-FFF2-40B4-BE49-F238E27FC236}">
                <a16:creationId xmlns:a16="http://schemas.microsoft.com/office/drawing/2014/main" id="{4D13A221-98CD-3D25-C4FB-83AA7852FFB6}"/>
              </a:ext>
            </a:extLst>
          </p:cNvPr>
          <p:cNvSpPr txBox="1">
            <a:spLocks/>
          </p:cNvSpPr>
          <p:nvPr/>
        </p:nvSpPr>
        <p:spPr>
          <a:xfrm>
            <a:off x="2711636" y="6379594"/>
            <a:ext cx="2715830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Ice cream consumption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5A79AF39-6C21-96E9-65CF-1EC5FA067EF7}"/>
              </a:ext>
            </a:extLst>
          </p:cNvPr>
          <p:cNvSpPr/>
          <p:nvPr/>
        </p:nvSpPr>
        <p:spPr>
          <a:xfrm>
            <a:off x="3009079" y="4277505"/>
            <a:ext cx="138892" cy="1273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Inhaltsplatzhalter 2">
            <a:extLst>
              <a:ext uri="{FF2B5EF4-FFF2-40B4-BE49-F238E27FC236}">
                <a16:creationId xmlns:a16="http://schemas.microsoft.com/office/drawing/2014/main" id="{33A04BFA-DC04-FF80-E56A-866ADA33A266}"/>
              </a:ext>
            </a:extLst>
          </p:cNvPr>
          <p:cNvSpPr txBox="1">
            <a:spLocks/>
          </p:cNvSpPr>
          <p:nvPr/>
        </p:nvSpPr>
        <p:spPr>
          <a:xfrm>
            <a:off x="6323768" y="6136167"/>
            <a:ext cx="1901082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Kg/month/capita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5" name="Inhaltsplatzhalter 2">
            <a:extLst>
              <a:ext uri="{FF2B5EF4-FFF2-40B4-BE49-F238E27FC236}">
                <a16:creationId xmlns:a16="http://schemas.microsoft.com/office/drawing/2014/main" id="{70B6294E-BEF8-1010-1725-E3BDC7BF75A7}"/>
              </a:ext>
            </a:extLst>
          </p:cNvPr>
          <p:cNvSpPr txBox="1">
            <a:spLocks/>
          </p:cNvSpPr>
          <p:nvPr/>
        </p:nvSpPr>
        <p:spPr>
          <a:xfrm>
            <a:off x="174216" y="2471727"/>
            <a:ext cx="2022945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Attack/million 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A9B7DC1-69EA-AB26-B4F5-755D35236080}"/>
              </a:ext>
            </a:extLst>
          </p:cNvPr>
          <p:cNvSpPr/>
          <p:nvPr/>
        </p:nvSpPr>
        <p:spPr>
          <a:xfrm>
            <a:off x="7790752" y="4023657"/>
            <a:ext cx="1404958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Ice cream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43E8E9FA-9C3E-2B4D-3D93-897C5C9F86AD}"/>
              </a:ext>
            </a:extLst>
          </p:cNvPr>
          <p:cNvCxnSpPr>
            <a:cxnSpLocks/>
          </p:cNvCxnSpPr>
          <p:nvPr/>
        </p:nvCxnSpPr>
        <p:spPr>
          <a:xfrm>
            <a:off x="9306132" y="4670649"/>
            <a:ext cx="870409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7FC5AE68-11D2-0963-35B6-732DBFBDCFFC}"/>
              </a:ext>
            </a:extLst>
          </p:cNvPr>
          <p:cNvSpPr/>
          <p:nvPr/>
        </p:nvSpPr>
        <p:spPr>
          <a:xfrm>
            <a:off x="10262503" y="4063616"/>
            <a:ext cx="1325050" cy="125678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Violent</a:t>
            </a:r>
            <a:br>
              <a:rPr lang="en-US" sz="1600" b="1" noProof="0" dirty="0"/>
            </a:br>
            <a:r>
              <a:rPr lang="en-US" sz="1600" b="1" noProof="0" dirty="0"/>
              <a:t>Crime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936984D-51F4-BD80-F8F4-5C73E639DDC5}"/>
              </a:ext>
            </a:extLst>
          </p:cNvPr>
          <p:cNvSpPr/>
          <p:nvPr/>
        </p:nvSpPr>
        <p:spPr>
          <a:xfrm>
            <a:off x="9124084" y="1998479"/>
            <a:ext cx="1392461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DA69029C-2341-13BD-7D91-025211ADF9EC}"/>
              </a:ext>
            </a:extLst>
          </p:cNvPr>
          <p:cNvSpPr txBox="1">
            <a:spLocks/>
          </p:cNvSpPr>
          <p:nvPr/>
        </p:nvSpPr>
        <p:spPr>
          <a:xfrm>
            <a:off x="9042763" y="2552518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Temperature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93D3E72-36CE-6AC6-E33F-BD088726599B}"/>
              </a:ext>
            </a:extLst>
          </p:cNvPr>
          <p:cNvCxnSpPr>
            <a:cxnSpLocks/>
          </p:cNvCxnSpPr>
          <p:nvPr/>
        </p:nvCxnSpPr>
        <p:spPr>
          <a:xfrm flipH="1">
            <a:off x="8691593" y="3152262"/>
            <a:ext cx="432491" cy="877316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8B55361-1454-F1B9-5F35-93245BFEEB5C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0426735" y="3205029"/>
            <a:ext cx="498293" cy="858587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7F391093-CD68-25C7-A29D-F94252492ED9}"/>
              </a:ext>
            </a:extLst>
          </p:cNvPr>
          <p:cNvSpPr txBox="1">
            <a:spLocks/>
          </p:cNvSpPr>
          <p:nvPr/>
        </p:nvSpPr>
        <p:spPr>
          <a:xfrm>
            <a:off x="7536653" y="3180922"/>
            <a:ext cx="1330525" cy="7443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Heat increases demand for</a:t>
            </a:r>
            <a:b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ice cream</a:t>
            </a: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2E9398EF-91E8-6DB5-7B66-87590BAF6FD7}"/>
              </a:ext>
            </a:extLst>
          </p:cNvPr>
          <p:cNvCxnSpPr>
            <a:cxnSpLocks/>
          </p:cNvCxnSpPr>
          <p:nvPr/>
        </p:nvCxnSpPr>
        <p:spPr>
          <a:xfrm>
            <a:off x="3887561" y="3768683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E2BB6242-F5CE-79D5-633B-8EAFF0271AC9}"/>
              </a:ext>
            </a:extLst>
          </p:cNvPr>
          <p:cNvCxnSpPr>
            <a:cxnSpLocks/>
          </p:cNvCxnSpPr>
          <p:nvPr/>
        </p:nvCxnSpPr>
        <p:spPr>
          <a:xfrm>
            <a:off x="3261157" y="4149286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B89D432-02A4-CF94-2517-C9D148ED0830}"/>
              </a:ext>
            </a:extLst>
          </p:cNvPr>
          <p:cNvCxnSpPr>
            <a:cxnSpLocks/>
          </p:cNvCxnSpPr>
          <p:nvPr/>
        </p:nvCxnSpPr>
        <p:spPr>
          <a:xfrm>
            <a:off x="2635516" y="4557304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9560AFF7-967E-D24E-9A29-1100A298E93B}"/>
              </a:ext>
            </a:extLst>
          </p:cNvPr>
          <p:cNvSpPr txBox="1">
            <a:spLocks/>
          </p:cNvSpPr>
          <p:nvPr/>
        </p:nvSpPr>
        <p:spPr>
          <a:xfrm>
            <a:off x="6206129" y="3131440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28</a:t>
            </a: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E87A2441-FCF3-CACC-7274-5726179FEB3D}"/>
              </a:ext>
            </a:extLst>
          </p:cNvPr>
          <p:cNvSpPr txBox="1">
            <a:spLocks/>
          </p:cNvSpPr>
          <p:nvPr/>
        </p:nvSpPr>
        <p:spPr>
          <a:xfrm>
            <a:off x="5656532" y="3612525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26</a:t>
            </a:r>
            <a:endParaRPr lang="en-US" sz="1400" baseline="-25000" noProof="0" dirty="0">
              <a:solidFill>
                <a:srgbClr val="00B05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0D092293-BD32-BFEE-C2FA-E2F70720441D}"/>
              </a:ext>
            </a:extLst>
          </p:cNvPr>
          <p:cNvSpPr txBox="1">
            <a:spLocks/>
          </p:cNvSpPr>
          <p:nvPr/>
        </p:nvSpPr>
        <p:spPr>
          <a:xfrm>
            <a:off x="5017106" y="4030597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B0F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24</a:t>
            </a:r>
            <a:endParaRPr lang="en-US" sz="1400" baseline="-25000" noProof="0" dirty="0">
              <a:solidFill>
                <a:srgbClr val="00B0F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733D3596-69EC-47DE-32BE-DB98EFF64EB2}"/>
              </a:ext>
            </a:extLst>
          </p:cNvPr>
          <p:cNvSpPr txBox="1">
            <a:spLocks/>
          </p:cNvSpPr>
          <p:nvPr/>
        </p:nvSpPr>
        <p:spPr>
          <a:xfrm>
            <a:off x="4357310" y="4404131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22</a:t>
            </a:r>
            <a:endParaRPr lang="en-US" sz="1400" baseline="-25000" noProof="0" dirty="0">
              <a:solidFill>
                <a:srgbClr val="FF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452D34B9-CB22-5918-EACB-69E8AF58D9CB}"/>
              </a:ext>
            </a:extLst>
          </p:cNvPr>
          <p:cNvSpPr txBox="1">
            <a:spLocks/>
          </p:cNvSpPr>
          <p:nvPr/>
        </p:nvSpPr>
        <p:spPr>
          <a:xfrm>
            <a:off x="10577215" y="2776110"/>
            <a:ext cx="1392461" cy="12567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People stay outside at night</a:t>
            </a:r>
            <a:b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b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careless tourists</a:t>
            </a: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578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EFD42D-91EF-82C2-5C2B-6CCEDCD58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B55CACE-C6AD-EE59-F5A5-F2FE80DBE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CA495441-887A-9BF5-E077-73E68765A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After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controlling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for Temperature (including it in the model)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B1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for Ice cream became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virtually zero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Temperature (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B2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is what is actually affecting crime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9EF1F5F1-EC02-DD9C-78C8-171097679560}"/>
              </a:ext>
            </a:extLst>
          </p:cNvPr>
          <p:cNvCxnSpPr>
            <a:cxnSpLocks/>
          </p:cNvCxnSpPr>
          <p:nvPr/>
        </p:nvCxnSpPr>
        <p:spPr>
          <a:xfrm flipV="1">
            <a:off x="2075723" y="2599386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562FB231-E784-730F-281F-BEF8A90A6BC9}"/>
              </a:ext>
            </a:extLst>
          </p:cNvPr>
          <p:cNvCxnSpPr>
            <a:cxnSpLocks/>
          </p:cNvCxnSpPr>
          <p:nvPr/>
        </p:nvCxnSpPr>
        <p:spPr>
          <a:xfrm>
            <a:off x="2075723" y="6025492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997BED2D-2FEA-0D93-CE98-EF28C6EB7D00}"/>
              </a:ext>
            </a:extLst>
          </p:cNvPr>
          <p:cNvSpPr txBox="1">
            <a:spLocks/>
          </p:cNvSpPr>
          <p:nvPr/>
        </p:nvSpPr>
        <p:spPr>
          <a:xfrm>
            <a:off x="189170" y="3739870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Violent</a:t>
            </a:r>
            <a:b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</a:t>
            </a:r>
            <a:endParaRPr lang="en-US" sz="18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3B03D60-1CFA-5E0B-D8AE-DFE58E555D1C}"/>
              </a:ext>
            </a:extLst>
          </p:cNvPr>
          <p:cNvSpPr/>
          <p:nvPr/>
        </p:nvSpPr>
        <p:spPr>
          <a:xfrm>
            <a:off x="4985182" y="3200367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8FC80FC0-348A-FB22-E808-DECA5CCE4077}"/>
              </a:ext>
            </a:extLst>
          </p:cNvPr>
          <p:cNvSpPr/>
          <p:nvPr/>
        </p:nvSpPr>
        <p:spPr>
          <a:xfrm>
            <a:off x="4285268" y="3573966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FC7E07CD-BBAE-7C4E-1533-4232B9C15DD5}"/>
              </a:ext>
            </a:extLst>
          </p:cNvPr>
          <p:cNvSpPr/>
          <p:nvPr/>
        </p:nvSpPr>
        <p:spPr>
          <a:xfrm>
            <a:off x="3519530" y="4584474"/>
            <a:ext cx="138892" cy="1273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082CF91E-0D5A-D7DB-AE31-BF52D2C89AAD}"/>
              </a:ext>
            </a:extLst>
          </p:cNvPr>
          <p:cNvSpPr/>
          <p:nvPr/>
        </p:nvSpPr>
        <p:spPr>
          <a:xfrm>
            <a:off x="4204132" y="4224034"/>
            <a:ext cx="138892" cy="12732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E72DC0AF-CCD8-0362-481C-FAC23CCCBB6E}"/>
              </a:ext>
            </a:extLst>
          </p:cNvPr>
          <p:cNvSpPr txBox="1">
            <a:spLocks/>
          </p:cNvSpPr>
          <p:nvPr/>
        </p:nvSpPr>
        <p:spPr>
          <a:xfrm>
            <a:off x="6011175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35385DEA-2624-A2C4-9337-FA975547BE27}"/>
              </a:ext>
            </a:extLst>
          </p:cNvPr>
          <p:cNvCxnSpPr>
            <a:cxnSpLocks/>
          </p:cNvCxnSpPr>
          <p:nvPr/>
        </p:nvCxnSpPr>
        <p:spPr>
          <a:xfrm flipV="1">
            <a:off x="6149298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C01336CC-10B2-D8D6-8277-4B62A4132AD9}"/>
              </a:ext>
            </a:extLst>
          </p:cNvPr>
          <p:cNvSpPr txBox="1">
            <a:spLocks/>
          </p:cNvSpPr>
          <p:nvPr/>
        </p:nvSpPr>
        <p:spPr>
          <a:xfrm>
            <a:off x="4703040" y="6113919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5C78B2D6-CF44-4A32-0D64-8025F65838C3}"/>
              </a:ext>
            </a:extLst>
          </p:cNvPr>
          <p:cNvCxnSpPr>
            <a:cxnSpLocks/>
          </p:cNvCxnSpPr>
          <p:nvPr/>
        </p:nvCxnSpPr>
        <p:spPr>
          <a:xfrm flipV="1">
            <a:off x="4841163" y="5934689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nhaltsplatzhalter 2">
            <a:extLst>
              <a:ext uri="{FF2B5EF4-FFF2-40B4-BE49-F238E27FC236}">
                <a16:creationId xmlns:a16="http://schemas.microsoft.com/office/drawing/2014/main" id="{A460ABE9-A14C-39C2-4442-ECD1B7250A32}"/>
              </a:ext>
            </a:extLst>
          </p:cNvPr>
          <p:cNvSpPr txBox="1">
            <a:spLocks/>
          </p:cNvSpPr>
          <p:nvPr/>
        </p:nvSpPr>
        <p:spPr>
          <a:xfrm>
            <a:off x="3261157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87EB5812-E476-5D2D-69D7-08DCF5599EBC}"/>
              </a:ext>
            </a:extLst>
          </p:cNvPr>
          <p:cNvCxnSpPr>
            <a:cxnSpLocks/>
          </p:cNvCxnSpPr>
          <p:nvPr/>
        </p:nvCxnSpPr>
        <p:spPr>
          <a:xfrm flipV="1">
            <a:off x="3399280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39C7FBC6-7152-D81D-A5E7-A29102874372}"/>
              </a:ext>
            </a:extLst>
          </p:cNvPr>
          <p:cNvCxnSpPr>
            <a:cxnSpLocks/>
          </p:cNvCxnSpPr>
          <p:nvPr/>
        </p:nvCxnSpPr>
        <p:spPr>
          <a:xfrm>
            <a:off x="1978815" y="36929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5510343A-61D6-DC69-159F-D0F09698565E}"/>
              </a:ext>
            </a:extLst>
          </p:cNvPr>
          <p:cNvCxnSpPr>
            <a:cxnSpLocks/>
          </p:cNvCxnSpPr>
          <p:nvPr/>
        </p:nvCxnSpPr>
        <p:spPr>
          <a:xfrm>
            <a:off x="1978815" y="45023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2E98CE10-08CC-1852-0F8B-DFA71F0B96F8}"/>
              </a:ext>
            </a:extLst>
          </p:cNvPr>
          <p:cNvCxnSpPr>
            <a:cxnSpLocks/>
          </p:cNvCxnSpPr>
          <p:nvPr/>
        </p:nvCxnSpPr>
        <p:spPr>
          <a:xfrm>
            <a:off x="1978815" y="5351080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A4AFA9E1-74FD-6E83-6D1F-D0490059D453}"/>
              </a:ext>
            </a:extLst>
          </p:cNvPr>
          <p:cNvCxnSpPr>
            <a:cxnSpLocks/>
          </p:cNvCxnSpPr>
          <p:nvPr/>
        </p:nvCxnSpPr>
        <p:spPr>
          <a:xfrm>
            <a:off x="1978815" y="2875424"/>
            <a:ext cx="193815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BAC701DE-F4A6-C13F-BC3E-55C76C7EC4A1}"/>
              </a:ext>
            </a:extLst>
          </p:cNvPr>
          <p:cNvSpPr txBox="1">
            <a:spLocks/>
          </p:cNvSpPr>
          <p:nvPr/>
        </p:nvSpPr>
        <p:spPr>
          <a:xfrm>
            <a:off x="1486049" y="273378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2B1725BB-81CB-7CA6-D958-C76679CB11AE}"/>
              </a:ext>
            </a:extLst>
          </p:cNvPr>
          <p:cNvSpPr txBox="1">
            <a:spLocks/>
          </p:cNvSpPr>
          <p:nvPr/>
        </p:nvSpPr>
        <p:spPr>
          <a:xfrm>
            <a:off x="1470316" y="3576066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3F7C42E4-FE9D-34B1-AD53-43168E6AC369}"/>
              </a:ext>
            </a:extLst>
          </p:cNvPr>
          <p:cNvSpPr txBox="1">
            <a:spLocks/>
          </p:cNvSpPr>
          <p:nvPr/>
        </p:nvSpPr>
        <p:spPr>
          <a:xfrm>
            <a:off x="1470316" y="4376947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7" name="Inhaltsplatzhalter 2">
            <a:extLst>
              <a:ext uri="{FF2B5EF4-FFF2-40B4-BE49-F238E27FC236}">
                <a16:creationId xmlns:a16="http://schemas.microsoft.com/office/drawing/2014/main" id="{6C4D27E5-8275-8014-BDBA-CA1CA6633986}"/>
              </a:ext>
            </a:extLst>
          </p:cNvPr>
          <p:cNvSpPr txBox="1">
            <a:spLocks/>
          </p:cNvSpPr>
          <p:nvPr/>
        </p:nvSpPr>
        <p:spPr>
          <a:xfrm>
            <a:off x="1486049" y="521416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45ED1DE3-BF46-2ABE-DAF7-5ADB75F4F342}"/>
              </a:ext>
            </a:extLst>
          </p:cNvPr>
          <p:cNvSpPr/>
          <p:nvPr/>
        </p:nvSpPr>
        <p:spPr>
          <a:xfrm>
            <a:off x="5666492" y="3255266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3E2A8131-5D5B-F517-3FC5-ABB9D57A7E5D}"/>
              </a:ext>
            </a:extLst>
          </p:cNvPr>
          <p:cNvSpPr/>
          <p:nvPr/>
        </p:nvSpPr>
        <p:spPr>
          <a:xfrm>
            <a:off x="5138973" y="3821422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EC3D4063-8500-B1DF-90FF-F434918D680B}"/>
              </a:ext>
            </a:extLst>
          </p:cNvPr>
          <p:cNvSpPr/>
          <p:nvPr/>
        </p:nvSpPr>
        <p:spPr>
          <a:xfrm>
            <a:off x="3557126" y="4011814"/>
            <a:ext cx="138892" cy="12732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281E7079-2C86-610B-1243-02F25960B398}"/>
              </a:ext>
            </a:extLst>
          </p:cNvPr>
          <p:cNvCxnSpPr>
            <a:cxnSpLocks/>
          </p:cNvCxnSpPr>
          <p:nvPr/>
        </p:nvCxnSpPr>
        <p:spPr>
          <a:xfrm>
            <a:off x="4553339" y="3300748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nhaltsplatzhalter 2">
            <a:extLst>
              <a:ext uri="{FF2B5EF4-FFF2-40B4-BE49-F238E27FC236}">
                <a16:creationId xmlns:a16="http://schemas.microsoft.com/office/drawing/2014/main" id="{F21C6A3F-798F-E640-87B0-418078C0FCB2}"/>
              </a:ext>
            </a:extLst>
          </p:cNvPr>
          <p:cNvSpPr txBox="1">
            <a:spLocks/>
          </p:cNvSpPr>
          <p:nvPr/>
        </p:nvSpPr>
        <p:spPr>
          <a:xfrm>
            <a:off x="2711636" y="6379594"/>
            <a:ext cx="2715830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Ice cream consumption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B072F939-2EC3-71E4-9059-ACC35D209844}"/>
              </a:ext>
            </a:extLst>
          </p:cNvPr>
          <p:cNvSpPr/>
          <p:nvPr/>
        </p:nvSpPr>
        <p:spPr>
          <a:xfrm>
            <a:off x="3009079" y="4277505"/>
            <a:ext cx="138892" cy="1273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Inhaltsplatzhalter 2">
            <a:extLst>
              <a:ext uri="{FF2B5EF4-FFF2-40B4-BE49-F238E27FC236}">
                <a16:creationId xmlns:a16="http://schemas.microsoft.com/office/drawing/2014/main" id="{5B4B5AEC-7E7E-9F7C-2D15-03E8FF481E6D}"/>
              </a:ext>
            </a:extLst>
          </p:cNvPr>
          <p:cNvSpPr txBox="1">
            <a:spLocks/>
          </p:cNvSpPr>
          <p:nvPr/>
        </p:nvSpPr>
        <p:spPr>
          <a:xfrm>
            <a:off x="6323768" y="6136167"/>
            <a:ext cx="1901082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Kg/month/capita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5" name="Inhaltsplatzhalter 2">
            <a:extLst>
              <a:ext uri="{FF2B5EF4-FFF2-40B4-BE49-F238E27FC236}">
                <a16:creationId xmlns:a16="http://schemas.microsoft.com/office/drawing/2014/main" id="{5A0F7B97-E925-9EBB-37FA-3E307F21B3C0}"/>
              </a:ext>
            </a:extLst>
          </p:cNvPr>
          <p:cNvSpPr txBox="1">
            <a:spLocks/>
          </p:cNvSpPr>
          <p:nvPr/>
        </p:nvSpPr>
        <p:spPr>
          <a:xfrm>
            <a:off x="174216" y="2471727"/>
            <a:ext cx="2022945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Attack/million 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C1FFAD5-5E99-1744-C7FC-7C275E8A083E}"/>
              </a:ext>
            </a:extLst>
          </p:cNvPr>
          <p:cNvSpPr/>
          <p:nvPr/>
        </p:nvSpPr>
        <p:spPr>
          <a:xfrm>
            <a:off x="7790752" y="4023657"/>
            <a:ext cx="1404958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1" noProof="0" dirty="0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CD8A9F3D-8846-2819-1E44-9DE608D003E1}"/>
              </a:ext>
            </a:extLst>
          </p:cNvPr>
          <p:cNvCxnSpPr>
            <a:cxnSpLocks/>
          </p:cNvCxnSpPr>
          <p:nvPr/>
        </p:nvCxnSpPr>
        <p:spPr>
          <a:xfrm>
            <a:off x="9306132" y="4670649"/>
            <a:ext cx="870409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4CA7FAE2-70A2-2B2A-7D18-2E51F4C63FB8}"/>
              </a:ext>
            </a:extLst>
          </p:cNvPr>
          <p:cNvSpPr/>
          <p:nvPr/>
        </p:nvSpPr>
        <p:spPr>
          <a:xfrm>
            <a:off x="10262503" y="4063616"/>
            <a:ext cx="1325050" cy="125678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noProof="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8DAF903-62C5-AB59-5C40-3DE1A40973DB}"/>
              </a:ext>
            </a:extLst>
          </p:cNvPr>
          <p:cNvSpPr/>
          <p:nvPr/>
        </p:nvSpPr>
        <p:spPr>
          <a:xfrm>
            <a:off x="9124084" y="1998479"/>
            <a:ext cx="1392461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8AF01501-276E-817A-3BAE-27C0AB5788C1}"/>
              </a:ext>
            </a:extLst>
          </p:cNvPr>
          <p:cNvSpPr txBox="1">
            <a:spLocks/>
          </p:cNvSpPr>
          <p:nvPr/>
        </p:nvSpPr>
        <p:spPr>
          <a:xfrm>
            <a:off x="9042763" y="2552518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Confounder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62BA337C-A041-6CD0-9C22-8DE8E51B1643}"/>
              </a:ext>
            </a:extLst>
          </p:cNvPr>
          <p:cNvCxnSpPr>
            <a:cxnSpLocks/>
          </p:cNvCxnSpPr>
          <p:nvPr/>
        </p:nvCxnSpPr>
        <p:spPr>
          <a:xfrm flipH="1">
            <a:off x="8691593" y="3152262"/>
            <a:ext cx="432491" cy="877316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2DE3007-0E0E-43CA-B5F4-1CFA485577B6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0426735" y="3205029"/>
            <a:ext cx="498293" cy="858587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E57F481-C39F-DBD1-2F6B-20B36DE97CC6}"/>
              </a:ext>
            </a:extLst>
          </p:cNvPr>
          <p:cNvCxnSpPr>
            <a:cxnSpLocks/>
          </p:cNvCxnSpPr>
          <p:nvPr/>
        </p:nvCxnSpPr>
        <p:spPr>
          <a:xfrm>
            <a:off x="3887561" y="3768683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758D1D88-FF04-B0B7-F9C0-3804A3B3D3E9}"/>
              </a:ext>
            </a:extLst>
          </p:cNvPr>
          <p:cNvCxnSpPr>
            <a:cxnSpLocks/>
          </p:cNvCxnSpPr>
          <p:nvPr/>
        </p:nvCxnSpPr>
        <p:spPr>
          <a:xfrm>
            <a:off x="3261157" y="4149286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C23D2DF-D42E-C7F5-96DF-3892AF77AAEF}"/>
              </a:ext>
            </a:extLst>
          </p:cNvPr>
          <p:cNvCxnSpPr>
            <a:cxnSpLocks/>
          </p:cNvCxnSpPr>
          <p:nvPr/>
        </p:nvCxnSpPr>
        <p:spPr>
          <a:xfrm>
            <a:off x="2635516" y="4557304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19771F7F-EA8E-9A4B-E480-BF5B00CABF83}"/>
              </a:ext>
            </a:extLst>
          </p:cNvPr>
          <p:cNvSpPr txBox="1">
            <a:spLocks/>
          </p:cNvSpPr>
          <p:nvPr/>
        </p:nvSpPr>
        <p:spPr>
          <a:xfrm>
            <a:off x="6206129" y="3131440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28</a:t>
            </a: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6574A92E-9597-4FFD-ABCC-1EC61403F359}"/>
              </a:ext>
            </a:extLst>
          </p:cNvPr>
          <p:cNvSpPr txBox="1">
            <a:spLocks/>
          </p:cNvSpPr>
          <p:nvPr/>
        </p:nvSpPr>
        <p:spPr>
          <a:xfrm>
            <a:off x="5656532" y="3612525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26</a:t>
            </a:r>
            <a:endParaRPr lang="en-US" sz="1400" baseline="-25000" noProof="0" dirty="0">
              <a:solidFill>
                <a:srgbClr val="00B05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235E525D-3EE5-E240-F3B3-76A37F6D533C}"/>
              </a:ext>
            </a:extLst>
          </p:cNvPr>
          <p:cNvSpPr txBox="1">
            <a:spLocks/>
          </p:cNvSpPr>
          <p:nvPr/>
        </p:nvSpPr>
        <p:spPr>
          <a:xfrm>
            <a:off x="5017106" y="4030597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B0F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24</a:t>
            </a:r>
            <a:endParaRPr lang="en-US" sz="1400" baseline="-25000" noProof="0" dirty="0">
              <a:solidFill>
                <a:srgbClr val="00B0F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956C320-53D6-0862-7226-7E83EE334EC8}"/>
              </a:ext>
            </a:extLst>
          </p:cNvPr>
          <p:cNvSpPr txBox="1">
            <a:spLocks/>
          </p:cNvSpPr>
          <p:nvPr/>
        </p:nvSpPr>
        <p:spPr>
          <a:xfrm>
            <a:off x="4357310" y="4404131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22</a:t>
            </a:r>
            <a:endParaRPr lang="en-US" sz="1400" baseline="-25000" noProof="0" dirty="0">
              <a:solidFill>
                <a:srgbClr val="FF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E3CDC12E-18EF-1A79-12AA-93E026B025D1}"/>
              </a:ext>
            </a:extLst>
          </p:cNvPr>
          <p:cNvSpPr txBox="1">
            <a:spLocks/>
          </p:cNvSpPr>
          <p:nvPr/>
        </p:nvSpPr>
        <p:spPr>
          <a:xfrm>
            <a:off x="7701385" y="4410913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Independent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Variable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(X)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6C649C-4DE0-3356-3BB4-65C13A5D1F44}"/>
              </a:ext>
            </a:extLst>
          </p:cNvPr>
          <p:cNvSpPr txBox="1">
            <a:spLocks/>
          </p:cNvSpPr>
          <p:nvPr/>
        </p:nvSpPr>
        <p:spPr>
          <a:xfrm>
            <a:off x="10116277" y="4404131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</a:t>
            </a:r>
            <a:r>
              <a:rPr lang="en-US" sz="1600" b="1" noProof="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ependent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Variable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385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01541-E111-E4D0-7FEE-B2EFEDA2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F367A8A-596E-E551-5331-92D5018EF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8C58160E-DCF4-2DB7-11D8-416618A3C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After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controlling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for Temperature (including it in the model)</a:t>
            </a:r>
            <a:b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B1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for Ice cream became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virtually zero</a:t>
            </a:r>
            <a:b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Temperature (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B2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is what is actually affecting crime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>
                <a:highlight>
                  <a:srgbClr val="C0C0C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Take home message</a:t>
            </a:r>
            <a:r>
              <a:rPr lang="en-US" sz="2400" dirty="0">
                <a:highlight>
                  <a:srgbClr val="C0C0C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: Always control for potential confounders!!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DDDC1039-03BD-38E8-79AE-2B1EC753D769}"/>
              </a:ext>
            </a:extLst>
          </p:cNvPr>
          <p:cNvCxnSpPr>
            <a:cxnSpLocks/>
          </p:cNvCxnSpPr>
          <p:nvPr/>
        </p:nvCxnSpPr>
        <p:spPr>
          <a:xfrm flipV="1">
            <a:off x="2075723" y="2599386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0F47A5B4-E4C5-8991-26D7-9F7C7AA3ECFA}"/>
              </a:ext>
            </a:extLst>
          </p:cNvPr>
          <p:cNvCxnSpPr>
            <a:cxnSpLocks/>
          </p:cNvCxnSpPr>
          <p:nvPr/>
        </p:nvCxnSpPr>
        <p:spPr>
          <a:xfrm>
            <a:off x="2075723" y="6025492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4A1B0F80-41E8-A814-CAC7-909E7BE06083}"/>
              </a:ext>
            </a:extLst>
          </p:cNvPr>
          <p:cNvSpPr txBox="1">
            <a:spLocks/>
          </p:cNvSpPr>
          <p:nvPr/>
        </p:nvSpPr>
        <p:spPr>
          <a:xfrm>
            <a:off x="189170" y="3739870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Violent</a:t>
            </a:r>
            <a:b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</a:t>
            </a:r>
            <a:endParaRPr lang="en-US" sz="18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35AC54F6-4535-9CF5-46F2-127D802CEB5A}"/>
              </a:ext>
            </a:extLst>
          </p:cNvPr>
          <p:cNvSpPr/>
          <p:nvPr/>
        </p:nvSpPr>
        <p:spPr>
          <a:xfrm>
            <a:off x="4985182" y="3200367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06D4D3D1-3799-C372-4016-69EA8F72BCAF}"/>
              </a:ext>
            </a:extLst>
          </p:cNvPr>
          <p:cNvSpPr/>
          <p:nvPr/>
        </p:nvSpPr>
        <p:spPr>
          <a:xfrm>
            <a:off x="4285268" y="3573966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64192DC6-63C6-7458-6D53-B69176ED680F}"/>
              </a:ext>
            </a:extLst>
          </p:cNvPr>
          <p:cNvSpPr/>
          <p:nvPr/>
        </p:nvSpPr>
        <p:spPr>
          <a:xfrm>
            <a:off x="3519530" y="4584474"/>
            <a:ext cx="138892" cy="1273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87875C34-0B57-CE60-694A-B97228F401C0}"/>
              </a:ext>
            </a:extLst>
          </p:cNvPr>
          <p:cNvSpPr/>
          <p:nvPr/>
        </p:nvSpPr>
        <p:spPr>
          <a:xfrm>
            <a:off x="4204132" y="4224034"/>
            <a:ext cx="138892" cy="12732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80F5F5CC-3B13-2B99-FEC5-DC185B0D3698}"/>
              </a:ext>
            </a:extLst>
          </p:cNvPr>
          <p:cNvSpPr txBox="1">
            <a:spLocks/>
          </p:cNvSpPr>
          <p:nvPr/>
        </p:nvSpPr>
        <p:spPr>
          <a:xfrm>
            <a:off x="6011175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FA2BB4C5-FA0B-F22C-905D-2A0CDC929572}"/>
              </a:ext>
            </a:extLst>
          </p:cNvPr>
          <p:cNvCxnSpPr>
            <a:cxnSpLocks/>
          </p:cNvCxnSpPr>
          <p:nvPr/>
        </p:nvCxnSpPr>
        <p:spPr>
          <a:xfrm flipV="1">
            <a:off x="6149298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849922DA-2E48-1B98-20CC-985E80956B0E}"/>
              </a:ext>
            </a:extLst>
          </p:cNvPr>
          <p:cNvSpPr txBox="1">
            <a:spLocks/>
          </p:cNvSpPr>
          <p:nvPr/>
        </p:nvSpPr>
        <p:spPr>
          <a:xfrm>
            <a:off x="4703040" y="6113919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450376A7-ED8F-4D31-8A4F-BD49584788CE}"/>
              </a:ext>
            </a:extLst>
          </p:cNvPr>
          <p:cNvCxnSpPr>
            <a:cxnSpLocks/>
          </p:cNvCxnSpPr>
          <p:nvPr/>
        </p:nvCxnSpPr>
        <p:spPr>
          <a:xfrm flipV="1">
            <a:off x="4841163" y="5934689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nhaltsplatzhalter 2">
            <a:extLst>
              <a:ext uri="{FF2B5EF4-FFF2-40B4-BE49-F238E27FC236}">
                <a16:creationId xmlns:a16="http://schemas.microsoft.com/office/drawing/2014/main" id="{E0BE2F66-E3C1-1108-6206-030A3FF3ED71}"/>
              </a:ext>
            </a:extLst>
          </p:cNvPr>
          <p:cNvSpPr txBox="1">
            <a:spLocks/>
          </p:cNvSpPr>
          <p:nvPr/>
        </p:nvSpPr>
        <p:spPr>
          <a:xfrm>
            <a:off x="3261157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ED6970AD-549D-3D5D-3A15-1B697C51EFE1}"/>
              </a:ext>
            </a:extLst>
          </p:cNvPr>
          <p:cNvCxnSpPr>
            <a:cxnSpLocks/>
          </p:cNvCxnSpPr>
          <p:nvPr/>
        </p:nvCxnSpPr>
        <p:spPr>
          <a:xfrm flipV="1">
            <a:off x="3399280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13ED7374-DCA2-1D67-0CAA-7F5711EF6AE1}"/>
              </a:ext>
            </a:extLst>
          </p:cNvPr>
          <p:cNvCxnSpPr>
            <a:cxnSpLocks/>
          </p:cNvCxnSpPr>
          <p:nvPr/>
        </p:nvCxnSpPr>
        <p:spPr>
          <a:xfrm>
            <a:off x="1978815" y="36929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DB701F0A-4C9A-5175-A9F4-57DE810C65C4}"/>
              </a:ext>
            </a:extLst>
          </p:cNvPr>
          <p:cNvCxnSpPr>
            <a:cxnSpLocks/>
          </p:cNvCxnSpPr>
          <p:nvPr/>
        </p:nvCxnSpPr>
        <p:spPr>
          <a:xfrm>
            <a:off x="1978815" y="45023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B5C44DAD-539F-31CB-6B38-1B1B372A4873}"/>
              </a:ext>
            </a:extLst>
          </p:cNvPr>
          <p:cNvCxnSpPr>
            <a:cxnSpLocks/>
          </p:cNvCxnSpPr>
          <p:nvPr/>
        </p:nvCxnSpPr>
        <p:spPr>
          <a:xfrm>
            <a:off x="1978815" y="5351080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C404E8A7-272D-11A9-8E29-DFAE5128B66A}"/>
              </a:ext>
            </a:extLst>
          </p:cNvPr>
          <p:cNvCxnSpPr>
            <a:cxnSpLocks/>
          </p:cNvCxnSpPr>
          <p:nvPr/>
        </p:nvCxnSpPr>
        <p:spPr>
          <a:xfrm>
            <a:off x="1978815" y="2875424"/>
            <a:ext cx="193815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F8C51343-0F96-0313-7EAB-91171EAEAE08}"/>
              </a:ext>
            </a:extLst>
          </p:cNvPr>
          <p:cNvSpPr txBox="1">
            <a:spLocks/>
          </p:cNvSpPr>
          <p:nvPr/>
        </p:nvSpPr>
        <p:spPr>
          <a:xfrm>
            <a:off x="1486049" y="273378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04D0BEB-B93D-D015-FA19-97D78D92338C}"/>
              </a:ext>
            </a:extLst>
          </p:cNvPr>
          <p:cNvSpPr txBox="1">
            <a:spLocks/>
          </p:cNvSpPr>
          <p:nvPr/>
        </p:nvSpPr>
        <p:spPr>
          <a:xfrm>
            <a:off x="1470316" y="3576066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723BD330-ECC8-8B6B-AA5A-4DB81B5336A4}"/>
              </a:ext>
            </a:extLst>
          </p:cNvPr>
          <p:cNvSpPr txBox="1">
            <a:spLocks/>
          </p:cNvSpPr>
          <p:nvPr/>
        </p:nvSpPr>
        <p:spPr>
          <a:xfrm>
            <a:off x="1470316" y="4376947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7" name="Inhaltsplatzhalter 2">
            <a:extLst>
              <a:ext uri="{FF2B5EF4-FFF2-40B4-BE49-F238E27FC236}">
                <a16:creationId xmlns:a16="http://schemas.microsoft.com/office/drawing/2014/main" id="{9B683E42-F189-9CEC-34F5-7A904CBB6B8F}"/>
              </a:ext>
            </a:extLst>
          </p:cNvPr>
          <p:cNvSpPr txBox="1">
            <a:spLocks/>
          </p:cNvSpPr>
          <p:nvPr/>
        </p:nvSpPr>
        <p:spPr>
          <a:xfrm>
            <a:off x="1486049" y="521416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540FFE62-1189-1A80-C7F7-1E00D6FD0DC0}"/>
              </a:ext>
            </a:extLst>
          </p:cNvPr>
          <p:cNvSpPr/>
          <p:nvPr/>
        </p:nvSpPr>
        <p:spPr>
          <a:xfrm>
            <a:off x="5666492" y="3255266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F08E3A4D-94BE-0EDB-7D4D-EA470C107449}"/>
              </a:ext>
            </a:extLst>
          </p:cNvPr>
          <p:cNvSpPr/>
          <p:nvPr/>
        </p:nvSpPr>
        <p:spPr>
          <a:xfrm>
            <a:off x="5138973" y="3821422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603640F1-1289-3046-EF80-B476A0DD44E3}"/>
              </a:ext>
            </a:extLst>
          </p:cNvPr>
          <p:cNvSpPr/>
          <p:nvPr/>
        </p:nvSpPr>
        <p:spPr>
          <a:xfrm>
            <a:off x="3557126" y="4011814"/>
            <a:ext cx="138892" cy="12732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4840FE95-0E34-0FCC-CD51-7A23D0E18B57}"/>
              </a:ext>
            </a:extLst>
          </p:cNvPr>
          <p:cNvCxnSpPr>
            <a:cxnSpLocks/>
          </p:cNvCxnSpPr>
          <p:nvPr/>
        </p:nvCxnSpPr>
        <p:spPr>
          <a:xfrm>
            <a:off x="4553339" y="3300748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nhaltsplatzhalter 2">
            <a:extLst>
              <a:ext uri="{FF2B5EF4-FFF2-40B4-BE49-F238E27FC236}">
                <a16:creationId xmlns:a16="http://schemas.microsoft.com/office/drawing/2014/main" id="{9F3CCBAB-5078-C499-721A-B0738C2401F3}"/>
              </a:ext>
            </a:extLst>
          </p:cNvPr>
          <p:cNvSpPr txBox="1">
            <a:spLocks/>
          </p:cNvSpPr>
          <p:nvPr/>
        </p:nvSpPr>
        <p:spPr>
          <a:xfrm>
            <a:off x="2711636" y="6379594"/>
            <a:ext cx="2715830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Ice cream consumption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9E6E9CD5-178E-F4C9-CA31-A4381A31C4EC}"/>
              </a:ext>
            </a:extLst>
          </p:cNvPr>
          <p:cNvSpPr/>
          <p:nvPr/>
        </p:nvSpPr>
        <p:spPr>
          <a:xfrm>
            <a:off x="3009079" y="4277505"/>
            <a:ext cx="138892" cy="1273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Inhaltsplatzhalter 2">
            <a:extLst>
              <a:ext uri="{FF2B5EF4-FFF2-40B4-BE49-F238E27FC236}">
                <a16:creationId xmlns:a16="http://schemas.microsoft.com/office/drawing/2014/main" id="{C4962604-CF6F-8F75-9121-F2FF5CCC04D5}"/>
              </a:ext>
            </a:extLst>
          </p:cNvPr>
          <p:cNvSpPr txBox="1">
            <a:spLocks/>
          </p:cNvSpPr>
          <p:nvPr/>
        </p:nvSpPr>
        <p:spPr>
          <a:xfrm>
            <a:off x="6323768" y="6136167"/>
            <a:ext cx="1901082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Kg/month/capita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5" name="Inhaltsplatzhalter 2">
            <a:extLst>
              <a:ext uri="{FF2B5EF4-FFF2-40B4-BE49-F238E27FC236}">
                <a16:creationId xmlns:a16="http://schemas.microsoft.com/office/drawing/2014/main" id="{48955C23-5EED-F42A-8657-14E1FC72C9DA}"/>
              </a:ext>
            </a:extLst>
          </p:cNvPr>
          <p:cNvSpPr txBox="1">
            <a:spLocks/>
          </p:cNvSpPr>
          <p:nvPr/>
        </p:nvSpPr>
        <p:spPr>
          <a:xfrm>
            <a:off x="174216" y="2471727"/>
            <a:ext cx="2022945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Attack/million 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BE73E52-F636-8DAB-B0A7-760B7E6C3D16}"/>
              </a:ext>
            </a:extLst>
          </p:cNvPr>
          <p:cNvCxnSpPr>
            <a:cxnSpLocks/>
          </p:cNvCxnSpPr>
          <p:nvPr/>
        </p:nvCxnSpPr>
        <p:spPr>
          <a:xfrm>
            <a:off x="3887561" y="3768683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C042225C-A9A4-5FC4-5146-335729765D79}"/>
              </a:ext>
            </a:extLst>
          </p:cNvPr>
          <p:cNvCxnSpPr>
            <a:cxnSpLocks/>
          </p:cNvCxnSpPr>
          <p:nvPr/>
        </p:nvCxnSpPr>
        <p:spPr>
          <a:xfrm>
            <a:off x="3261157" y="4149286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7C0090E6-E9C0-B548-4048-EC4DEC3E60EB}"/>
              </a:ext>
            </a:extLst>
          </p:cNvPr>
          <p:cNvCxnSpPr>
            <a:cxnSpLocks/>
          </p:cNvCxnSpPr>
          <p:nvPr/>
        </p:nvCxnSpPr>
        <p:spPr>
          <a:xfrm>
            <a:off x="2635516" y="4557304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E0B59EF6-F1F3-5725-588F-5EBD15A6976A}"/>
              </a:ext>
            </a:extLst>
          </p:cNvPr>
          <p:cNvSpPr txBox="1">
            <a:spLocks/>
          </p:cNvSpPr>
          <p:nvPr/>
        </p:nvSpPr>
        <p:spPr>
          <a:xfrm>
            <a:off x="6206129" y="3131440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28</a:t>
            </a: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6EEBAC5B-1395-6569-B98F-A39609E6593F}"/>
              </a:ext>
            </a:extLst>
          </p:cNvPr>
          <p:cNvSpPr txBox="1">
            <a:spLocks/>
          </p:cNvSpPr>
          <p:nvPr/>
        </p:nvSpPr>
        <p:spPr>
          <a:xfrm>
            <a:off x="5656532" y="3612525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26</a:t>
            </a:r>
            <a:endParaRPr lang="en-US" sz="1400" baseline="-25000" noProof="0" dirty="0">
              <a:solidFill>
                <a:srgbClr val="00B05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77DF1161-6210-01CE-9759-88F9A4AC0C77}"/>
              </a:ext>
            </a:extLst>
          </p:cNvPr>
          <p:cNvSpPr txBox="1">
            <a:spLocks/>
          </p:cNvSpPr>
          <p:nvPr/>
        </p:nvSpPr>
        <p:spPr>
          <a:xfrm>
            <a:off x="5017106" y="4030597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B0F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24</a:t>
            </a:r>
            <a:endParaRPr lang="en-US" sz="1400" baseline="-25000" noProof="0" dirty="0">
              <a:solidFill>
                <a:srgbClr val="00B0F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E1B4B811-2FCF-2FE1-2BE6-2927B26EF94A}"/>
              </a:ext>
            </a:extLst>
          </p:cNvPr>
          <p:cNvSpPr txBox="1">
            <a:spLocks/>
          </p:cNvSpPr>
          <p:nvPr/>
        </p:nvSpPr>
        <p:spPr>
          <a:xfrm>
            <a:off x="4357310" y="4404131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22</a:t>
            </a:r>
            <a:endParaRPr lang="en-US" sz="1400" baseline="-25000" noProof="0" dirty="0">
              <a:solidFill>
                <a:srgbClr val="FF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C53F075B-E098-67E9-FF02-6A085ED6AE41}"/>
              </a:ext>
            </a:extLst>
          </p:cNvPr>
          <p:cNvSpPr/>
          <p:nvPr/>
        </p:nvSpPr>
        <p:spPr>
          <a:xfrm>
            <a:off x="7790752" y="4023657"/>
            <a:ext cx="1404958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1" noProof="0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3F041DFE-34C7-4C81-F7F6-279BDF2E40BE}"/>
              </a:ext>
            </a:extLst>
          </p:cNvPr>
          <p:cNvCxnSpPr>
            <a:cxnSpLocks/>
          </p:cNvCxnSpPr>
          <p:nvPr/>
        </p:nvCxnSpPr>
        <p:spPr>
          <a:xfrm>
            <a:off x="9306132" y="4670649"/>
            <a:ext cx="870409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lipse 3">
            <a:extLst>
              <a:ext uri="{FF2B5EF4-FFF2-40B4-BE49-F238E27FC236}">
                <a16:creationId xmlns:a16="http://schemas.microsoft.com/office/drawing/2014/main" id="{8DF57CF0-7FB3-FC96-7348-991F95D5E82B}"/>
              </a:ext>
            </a:extLst>
          </p:cNvPr>
          <p:cNvSpPr/>
          <p:nvPr/>
        </p:nvSpPr>
        <p:spPr>
          <a:xfrm>
            <a:off x="10262503" y="4063616"/>
            <a:ext cx="1325050" cy="125678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noProof="0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817A46A-50F4-619C-2836-5212130BFEC1}"/>
              </a:ext>
            </a:extLst>
          </p:cNvPr>
          <p:cNvSpPr/>
          <p:nvPr/>
        </p:nvSpPr>
        <p:spPr>
          <a:xfrm>
            <a:off x="9124084" y="1998479"/>
            <a:ext cx="1392461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noProof="0" dirty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BC836451-CFE1-82F9-9ED4-B57DE220A4C4}"/>
              </a:ext>
            </a:extLst>
          </p:cNvPr>
          <p:cNvSpPr txBox="1">
            <a:spLocks/>
          </p:cNvSpPr>
          <p:nvPr/>
        </p:nvSpPr>
        <p:spPr>
          <a:xfrm>
            <a:off x="9042763" y="2552518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Confounder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7DA908F-C8E7-06D8-C2E4-081BC93188BD}"/>
              </a:ext>
            </a:extLst>
          </p:cNvPr>
          <p:cNvCxnSpPr>
            <a:cxnSpLocks/>
          </p:cNvCxnSpPr>
          <p:nvPr/>
        </p:nvCxnSpPr>
        <p:spPr>
          <a:xfrm flipH="1">
            <a:off x="8691593" y="3152262"/>
            <a:ext cx="432491" cy="877316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618AAC3-6A72-02DC-8A18-03622C260E6B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0426735" y="3205029"/>
            <a:ext cx="498293" cy="858587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0CAE6BC-7B37-6F97-1336-47127AA13C8A}"/>
              </a:ext>
            </a:extLst>
          </p:cNvPr>
          <p:cNvSpPr txBox="1">
            <a:spLocks/>
          </p:cNvSpPr>
          <p:nvPr/>
        </p:nvSpPr>
        <p:spPr>
          <a:xfrm>
            <a:off x="7701385" y="4410913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Independent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Variable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(X)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D5C80CF5-FAA5-AAFD-9639-0E948B1B69A3}"/>
              </a:ext>
            </a:extLst>
          </p:cNvPr>
          <p:cNvSpPr txBox="1">
            <a:spLocks/>
          </p:cNvSpPr>
          <p:nvPr/>
        </p:nvSpPr>
        <p:spPr>
          <a:xfrm>
            <a:off x="10116277" y="4404131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</a:t>
            </a:r>
            <a:r>
              <a:rPr lang="en-US" sz="1600" b="1" noProof="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ependent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Variable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334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1739</Words>
  <Application>Microsoft Office PowerPoint</Application>
  <PresentationFormat>Breitbild</PresentationFormat>
  <Paragraphs>722</Paragraphs>
  <Slides>33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Source Sans Pro</vt:lpstr>
      <vt:lpstr>Office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Complication 1: Estimation uncertainty</vt:lpstr>
      <vt:lpstr>Complication 1: Estimation uncertainty</vt:lpstr>
      <vt:lpstr>Complication 1: Estimation uncertainty</vt:lpstr>
      <vt:lpstr>Complication 1: Estimation uncertainty</vt:lpstr>
      <vt:lpstr>Complication 1: Estimation uncertainty</vt:lpstr>
      <vt:lpstr>Complication 1: Estimation uncertainty</vt:lpstr>
      <vt:lpstr>Complication 1: Estimation uncertainty</vt:lpstr>
      <vt:lpstr>Complication 1: Estimation uncertainty</vt:lpstr>
      <vt:lpstr>Complication 1: Estimation uncertainty</vt:lpstr>
      <vt:lpstr>Complication 1: Estimation uncertainty</vt:lpstr>
      <vt:lpstr>Complication 2: Confounders</vt:lpstr>
      <vt:lpstr>Complication 2: Confounders</vt:lpstr>
      <vt:lpstr>Complication 2: Confounders</vt:lpstr>
      <vt:lpstr>Complication 2: Confounders</vt:lpstr>
      <vt:lpstr>Complication 2: Confounders</vt:lpstr>
      <vt:lpstr>Complication 2: Confounders</vt:lpstr>
      <vt:lpstr>Complication 2: Confounders</vt:lpstr>
      <vt:lpstr>Complication 2: Confounders</vt:lpstr>
      <vt:lpstr>Complication 2: Confounders</vt:lpstr>
      <vt:lpstr>Complication 2: Confounders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Muhamamd</dc:creator>
  <cp:lastModifiedBy>Muhammad Muhamamd</cp:lastModifiedBy>
  <cp:revision>29</cp:revision>
  <dcterms:created xsi:type="dcterms:W3CDTF">2025-04-01T13:53:29Z</dcterms:created>
  <dcterms:modified xsi:type="dcterms:W3CDTF">2026-05-27T08:56:41Z</dcterms:modified>
</cp:coreProperties>
</file>